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9"/>
        </a:solidFill>
      </p:bgPr>
    </p:bg>
    <p:spTree>
      <p:nvGrpSpPr>
        <p:cNvPr id="1" name=""/>
        <p:cNvGrpSpPr/>
        <p:nvPr/>
      </p:nvGrpSpPr>
      <p:grpSpPr>
        <a:xfrm>
          <a:off x="0" y="0"/>
          <a:ext cx="0" cy="0"/>
          <a:chOff x="0" y="0"/>
          <a:chExt cx="0" cy="0"/>
        </a:xfrm>
      </p:grpSpPr>
      <p:sp>
        <p:nvSpPr>
          <p:cNvPr id="2" name="Shape 0"/>
          <p:cNvSpPr/>
          <p:nvPr/>
        </p:nvSpPr>
        <p:spPr>
          <a:xfrm>
            <a:off x="5486400" y="137160"/>
            <a:ext cx="6583680" cy="6583680"/>
          </a:xfrm>
          <a:prstGeom prst="ellipse">
            <a:avLst/>
          </a:prstGeom>
          <a:ln w="19050">
            <a:solidFill>
              <a:srgbClr val="4A56A8"/>
            </a:solidFill>
            <a:prstDash val="solid"/>
          </a:ln>
        </p:spPr>
      </p:sp>
      <p:sp>
        <p:nvSpPr>
          <p:cNvPr id="3" name="Shape 1"/>
          <p:cNvSpPr/>
          <p:nvPr/>
        </p:nvSpPr>
        <p:spPr>
          <a:xfrm>
            <a:off x="6035040" y="685800"/>
            <a:ext cx="5486400" cy="5486400"/>
          </a:xfrm>
          <a:prstGeom prst="ellipse">
            <a:avLst/>
          </a:prstGeom>
          <a:ln w="19050">
            <a:solidFill>
              <a:srgbClr val="5C68BC"/>
            </a:solidFill>
            <a:prstDash val="solid"/>
          </a:ln>
        </p:spPr>
      </p:sp>
      <p:sp>
        <p:nvSpPr>
          <p:cNvPr id="4" name="Shape 2"/>
          <p:cNvSpPr/>
          <p:nvPr/>
        </p:nvSpPr>
        <p:spPr>
          <a:xfrm>
            <a:off x="6583680" y="1234440"/>
            <a:ext cx="4389120" cy="4389120"/>
          </a:xfrm>
          <a:prstGeom prst="ellipse">
            <a:avLst/>
          </a:prstGeom>
          <a:ln w="19050">
            <a:solidFill>
              <a:srgbClr val="7480CE"/>
            </a:solidFill>
            <a:prstDash val="solid"/>
          </a:ln>
        </p:spPr>
      </p:sp>
      <p:sp>
        <p:nvSpPr>
          <p:cNvPr id="5" name="Shape 3"/>
          <p:cNvSpPr/>
          <p:nvPr/>
        </p:nvSpPr>
        <p:spPr>
          <a:xfrm>
            <a:off x="7132320" y="1783080"/>
            <a:ext cx="3291840" cy="3291840"/>
          </a:xfrm>
          <a:prstGeom prst="ellipse">
            <a:avLst/>
          </a:prstGeom>
          <a:ln w="19050">
            <a:solidFill>
              <a:srgbClr val="93A0E0"/>
            </a:solidFill>
            <a:prstDash val="solid"/>
          </a:ln>
        </p:spPr>
      </p:sp>
      <p:sp>
        <p:nvSpPr>
          <p:cNvPr id="6" name="Text 4"/>
          <p:cNvSpPr txBox="1"/>
          <p:nvPr/>
        </p:nvSpPr>
        <p:spPr>
          <a:xfrm>
            <a:off x="731520" y="2011680"/>
            <a:ext cx="7863840" cy="411480"/>
          </a:xfrm>
          <a:prstGeom prst="rect">
            <a:avLst/>
          </a:prstGeom>
          <a:noFill/>
          <a:ln/>
        </p:spPr>
        <p:txBody>
          <a:bodyPr wrap="square" lIns="0" tIns="0" rIns="0" bIns="0" rtlCol="0" anchor="ctr"/>
          <a:lstStyle/>
          <a:p>
            <a:pPr indent="0" marL="0">
              <a:buNone/>
            </a:pPr>
            <a:r>
              <a:rPr lang="en-US" sz="1500" b="1" spc="200" kern="0" dirty="0">
                <a:solidFill>
                  <a:srgbClr val="C99A2E"/>
                </a:solidFill>
                <a:latin typeface="Calibri" pitchFamily="34" charset="0"/>
                <a:ea typeface="Calibri" pitchFamily="34" charset="-122"/>
                <a:cs typeface="Calibri" pitchFamily="34" charset="-120"/>
              </a:rPr>
              <a:t>CS-850  ·  ADVANCED THEORY OF COMPUTATION</a:t>
            </a:r>
            <a:endParaRPr lang="en-US" sz="1500" dirty="0"/>
          </a:p>
        </p:txBody>
      </p:sp>
      <p:sp>
        <p:nvSpPr>
          <p:cNvPr id="7" name="Text 5"/>
          <p:cNvSpPr txBox="1"/>
          <p:nvPr/>
        </p:nvSpPr>
        <p:spPr>
          <a:xfrm>
            <a:off x="731520" y="2423160"/>
            <a:ext cx="8229600" cy="2377440"/>
          </a:xfrm>
          <a:prstGeom prst="rect">
            <a:avLst/>
          </a:prstGeom>
          <a:noFill/>
          <a:ln/>
        </p:spPr>
        <p:txBody>
          <a:bodyPr wrap="square" lIns="0" tIns="0" rIns="0" bIns="0" rtlCol="0" anchor="ctr"/>
          <a:lstStyle/>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How LLMs Actually Work</a:t>
            </a:r>
            <a:endParaRPr lang="en-US" sz="3600" dirty="0"/>
          </a:p>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(in Brief) — and Why This</a:t>
            </a:r>
            <a:endParaRPr lang="en-US" sz="3600" dirty="0"/>
          </a:p>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Course Explains Them</a:t>
            </a:r>
            <a:endParaRPr lang="en-US" sz="3600" dirty="0"/>
          </a:p>
        </p:txBody>
      </p:sp>
      <p:sp>
        <p:nvSpPr>
          <p:cNvPr id="8" name="Text 6"/>
          <p:cNvSpPr txBox="1"/>
          <p:nvPr/>
        </p:nvSpPr>
        <p:spPr>
          <a:xfrm>
            <a:off x="731520" y="4983480"/>
            <a:ext cx="7863840" cy="640080"/>
          </a:xfrm>
          <a:prstGeom prst="rect">
            <a:avLst/>
          </a:prstGeom>
          <a:noFill/>
          <a:ln/>
        </p:spPr>
        <p:txBody>
          <a:bodyPr wrap="square" lIns="0" tIns="0" rIns="0" bIns="0" rtlCol="0" anchor="ctr"/>
          <a:lstStyle/>
          <a:p>
            <a:pPr indent="0" marL="0">
              <a:lnSpc>
                <a:spcPct val="120000"/>
              </a:lnSpc>
              <a:buNone/>
            </a:pPr>
            <a:r>
              <a:rPr lang="en-US" sz="1500" i="1" dirty="0">
                <a:solidFill>
                  <a:srgbClr val="CADCFC"/>
                </a:solidFill>
                <a:latin typeface="Calibri" pitchFamily="34" charset="0"/>
                <a:ea typeface="Calibri" pitchFamily="34" charset="-122"/>
                <a:cs typeface="Calibri" pitchFamily="34" charset="-120"/>
              </a:rPr>
              <a:t>A companion deck — the forward pass, training, decoding, and agents, mapped to the weeks that explain the theory underneath.</a:t>
            </a:r>
            <a:endParaRPr lang="en-US" sz="1500" dirty="0"/>
          </a:p>
        </p:txBody>
      </p:sp>
      <p:sp>
        <p:nvSpPr>
          <p:cNvPr id="9" name="Text 7"/>
          <p:cNvSpPr txBox="1"/>
          <p:nvPr/>
        </p:nvSpPr>
        <p:spPr>
          <a:xfrm>
            <a:off x="731520" y="6035040"/>
            <a:ext cx="7863840" cy="365760"/>
          </a:xfrm>
          <a:prstGeom prst="rect">
            <a:avLst/>
          </a:prstGeom>
          <a:noFill/>
          <a:ln/>
        </p:spPr>
        <p:txBody>
          <a:bodyPr wrap="square" lIns="0" tIns="0" rIns="0" bIns="0" rtlCol="0" anchor="ctr"/>
          <a:lstStyle/>
          <a:p>
            <a:pPr indent="0" marL="0">
              <a:buNone/>
            </a:pPr>
            <a:r>
              <a:rPr lang="en-US" sz="1300" dirty="0">
                <a:solidFill>
                  <a:srgbClr val="9AA5D6"/>
                </a:solidFill>
                <a:latin typeface="Calibri" pitchFamily="34" charset="0"/>
                <a:ea typeface="Calibri" pitchFamily="34" charset="-122"/>
                <a:cs typeface="Calibri" pitchFamily="34" charset="-120"/>
              </a:rPr>
              <a:t>Dr. Ayesha Maqbool   ·   Fall 2026   ·   MS-CS (AB)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What this deck covers</a:t>
            </a:r>
            <a:endParaRPr lang="en-US" sz="3200" dirty="0"/>
          </a:p>
        </p:txBody>
      </p:sp>
      <p:sp>
        <p:nvSpPr>
          <p:cNvPr id="4" name="Shape 2"/>
          <p:cNvSpPr/>
          <p:nvPr/>
        </p:nvSpPr>
        <p:spPr>
          <a:xfrm>
            <a:off x="548640" y="1600200"/>
            <a:ext cx="5408676" cy="1417320"/>
          </a:xfrm>
          <a:prstGeom prst="roundRect">
            <a:avLst>
              <a:gd name="adj" fmla="val 6452"/>
            </a:avLst>
          </a:prstGeom>
          <a:solidFill>
            <a:srgbClr val="F7F8FC"/>
          </a:solidFill>
          <a:ln/>
        </p:spPr>
      </p:sp>
      <p:sp>
        <p:nvSpPr>
          <p:cNvPr id="5" name="Shape 3"/>
          <p:cNvSpPr/>
          <p:nvPr/>
        </p:nvSpPr>
        <p:spPr>
          <a:xfrm>
            <a:off x="777240" y="1856232"/>
            <a:ext cx="822960" cy="822960"/>
          </a:xfrm>
          <a:prstGeom prst="roundRect">
            <a:avLst>
              <a:gd name="adj" fmla="val 11111"/>
            </a:avLst>
          </a:prstGeom>
          <a:solidFill>
            <a:srgbClr val="1E2761"/>
          </a:solidFill>
          <a:ln/>
        </p:spPr>
      </p:sp>
      <p:sp>
        <p:nvSpPr>
          <p:cNvPr id="6" name="Text 4"/>
          <p:cNvSpPr txBox="1"/>
          <p:nvPr/>
        </p:nvSpPr>
        <p:spPr>
          <a:xfrm>
            <a:off x="777240" y="185623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01</a:t>
            </a:r>
            <a:endParaRPr lang="en-US" sz="2400" dirty="0"/>
          </a:p>
        </p:txBody>
      </p:sp>
      <p:sp>
        <p:nvSpPr>
          <p:cNvPr id="7" name="Text 5"/>
          <p:cNvSpPr txBox="1"/>
          <p:nvPr/>
        </p:nvSpPr>
        <p:spPr>
          <a:xfrm>
            <a:off x="1783080" y="1828800"/>
            <a:ext cx="3945636"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Big Picture</a:t>
            </a:r>
            <a:endParaRPr lang="en-US" sz="1600" dirty="0"/>
          </a:p>
        </p:txBody>
      </p:sp>
      <p:sp>
        <p:nvSpPr>
          <p:cNvPr id="8" name="Text 6"/>
          <p:cNvSpPr txBox="1"/>
          <p:nvPr/>
        </p:nvSpPr>
        <p:spPr>
          <a:xfrm>
            <a:off x="1783080" y="2258568"/>
            <a:ext cx="3945636" cy="64008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The whole LLM pipeline, in one diagram</a:t>
            </a:r>
            <a:endParaRPr lang="en-US" sz="1250" dirty="0"/>
          </a:p>
        </p:txBody>
      </p:sp>
      <p:sp>
        <p:nvSpPr>
          <p:cNvPr id="9" name="Shape 7"/>
          <p:cNvSpPr/>
          <p:nvPr/>
        </p:nvSpPr>
        <p:spPr>
          <a:xfrm>
            <a:off x="6231636" y="1600200"/>
            <a:ext cx="5408676" cy="1417320"/>
          </a:xfrm>
          <a:prstGeom prst="roundRect">
            <a:avLst>
              <a:gd name="adj" fmla="val 6452"/>
            </a:avLst>
          </a:prstGeom>
          <a:solidFill>
            <a:srgbClr val="F7F8FC"/>
          </a:solidFill>
          <a:ln/>
        </p:spPr>
      </p:sp>
      <p:sp>
        <p:nvSpPr>
          <p:cNvPr id="10" name="Shape 8"/>
          <p:cNvSpPr/>
          <p:nvPr/>
        </p:nvSpPr>
        <p:spPr>
          <a:xfrm>
            <a:off x="6460236" y="1856232"/>
            <a:ext cx="822960" cy="822960"/>
          </a:xfrm>
          <a:prstGeom prst="roundRect">
            <a:avLst>
              <a:gd name="adj" fmla="val 11111"/>
            </a:avLst>
          </a:prstGeom>
          <a:solidFill>
            <a:srgbClr val="1E2761"/>
          </a:solidFill>
          <a:ln/>
        </p:spPr>
      </p:sp>
      <p:sp>
        <p:nvSpPr>
          <p:cNvPr id="11" name="Text 9"/>
          <p:cNvSpPr txBox="1"/>
          <p:nvPr/>
        </p:nvSpPr>
        <p:spPr>
          <a:xfrm>
            <a:off x="6460236" y="185623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02</a:t>
            </a:r>
            <a:endParaRPr lang="en-US" sz="2400" dirty="0"/>
          </a:p>
        </p:txBody>
      </p:sp>
      <p:sp>
        <p:nvSpPr>
          <p:cNvPr id="12" name="Text 10"/>
          <p:cNvSpPr txBox="1"/>
          <p:nvPr/>
        </p:nvSpPr>
        <p:spPr>
          <a:xfrm>
            <a:off x="7466076" y="1828800"/>
            <a:ext cx="3945636"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Forward Pass</a:t>
            </a:r>
            <a:endParaRPr lang="en-US" sz="1600" dirty="0"/>
          </a:p>
        </p:txBody>
      </p:sp>
      <p:sp>
        <p:nvSpPr>
          <p:cNvPr id="13" name="Text 11"/>
          <p:cNvSpPr txBox="1"/>
          <p:nvPr/>
        </p:nvSpPr>
        <p:spPr>
          <a:xfrm>
            <a:off x="7466076" y="2258568"/>
            <a:ext cx="3945636" cy="64008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Tokenize → Embed → Attend → Predict</a:t>
            </a:r>
            <a:endParaRPr lang="en-US" sz="1250" dirty="0"/>
          </a:p>
        </p:txBody>
      </p:sp>
      <p:sp>
        <p:nvSpPr>
          <p:cNvPr id="14" name="Shape 12"/>
          <p:cNvSpPr/>
          <p:nvPr/>
        </p:nvSpPr>
        <p:spPr>
          <a:xfrm>
            <a:off x="548640" y="3154680"/>
            <a:ext cx="5408676" cy="1417320"/>
          </a:xfrm>
          <a:prstGeom prst="roundRect">
            <a:avLst>
              <a:gd name="adj" fmla="val 6452"/>
            </a:avLst>
          </a:prstGeom>
          <a:solidFill>
            <a:srgbClr val="F7F8FC"/>
          </a:solidFill>
          <a:ln/>
        </p:spPr>
      </p:sp>
      <p:sp>
        <p:nvSpPr>
          <p:cNvPr id="15" name="Shape 13"/>
          <p:cNvSpPr/>
          <p:nvPr/>
        </p:nvSpPr>
        <p:spPr>
          <a:xfrm>
            <a:off x="777240" y="3410712"/>
            <a:ext cx="822960" cy="822960"/>
          </a:xfrm>
          <a:prstGeom prst="roundRect">
            <a:avLst>
              <a:gd name="adj" fmla="val 11111"/>
            </a:avLst>
          </a:prstGeom>
          <a:solidFill>
            <a:srgbClr val="5C68BC"/>
          </a:solidFill>
          <a:ln/>
        </p:spPr>
      </p:sp>
      <p:sp>
        <p:nvSpPr>
          <p:cNvPr id="16" name="Text 14"/>
          <p:cNvSpPr txBox="1"/>
          <p:nvPr/>
        </p:nvSpPr>
        <p:spPr>
          <a:xfrm>
            <a:off x="777240" y="341071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03</a:t>
            </a:r>
            <a:endParaRPr lang="en-US" sz="2400" dirty="0"/>
          </a:p>
        </p:txBody>
      </p:sp>
      <p:sp>
        <p:nvSpPr>
          <p:cNvPr id="17" name="Text 15"/>
          <p:cNvSpPr txBox="1"/>
          <p:nvPr/>
        </p:nvSpPr>
        <p:spPr>
          <a:xfrm>
            <a:off x="1783080" y="3383280"/>
            <a:ext cx="3945636"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Training &amp; Alignment</a:t>
            </a:r>
            <a:endParaRPr lang="en-US" sz="1600" dirty="0"/>
          </a:p>
        </p:txBody>
      </p:sp>
      <p:sp>
        <p:nvSpPr>
          <p:cNvPr id="18" name="Text 16"/>
          <p:cNvSpPr txBox="1"/>
          <p:nvPr/>
        </p:nvSpPr>
        <p:spPr>
          <a:xfrm>
            <a:off x="1783080" y="3813048"/>
            <a:ext cx="3945636" cy="64008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How a model learns, and gets tuned to be helpful</a:t>
            </a:r>
            <a:endParaRPr lang="en-US" sz="1250" dirty="0"/>
          </a:p>
        </p:txBody>
      </p:sp>
      <p:sp>
        <p:nvSpPr>
          <p:cNvPr id="19" name="Shape 17"/>
          <p:cNvSpPr/>
          <p:nvPr/>
        </p:nvSpPr>
        <p:spPr>
          <a:xfrm>
            <a:off x="6231636" y="3154680"/>
            <a:ext cx="5408676" cy="1417320"/>
          </a:xfrm>
          <a:prstGeom prst="roundRect">
            <a:avLst>
              <a:gd name="adj" fmla="val 6452"/>
            </a:avLst>
          </a:prstGeom>
          <a:solidFill>
            <a:srgbClr val="F7F8FC"/>
          </a:solidFill>
          <a:ln/>
        </p:spPr>
      </p:sp>
      <p:sp>
        <p:nvSpPr>
          <p:cNvPr id="20" name="Shape 18"/>
          <p:cNvSpPr/>
          <p:nvPr/>
        </p:nvSpPr>
        <p:spPr>
          <a:xfrm>
            <a:off x="6460236" y="3410712"/>
            <a:ext cx="822960" cy="822960"/>
          </a:xfrm>
          <a:prstGeom prst="roundRect">
            <a:avLst>
              <a:gd name="adj" fmla="val 11111"/>
            </a:avLst>
          </a:prstGeom>
          <a:solidFill>
            <a:srgbClr val="5C68BC"/>
          </a:solidFill>
          <a:ln/>
        </p:spPr>
      </p:sp>
      <p:sp>
        <p:nvSpPr>
          <p:cNvPr id="21" name="Text 19"/>
          <p:cNvSpPr txBox="1"/>
          <p:nvPr/>
        </p:nvSpPr>
        <p:spPr>
          <a:xfrm>
            <a:off x="6460236" y="341071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04</a:t>
            </a:r>
            <a:endParaRPr lang="en-US" sz="2400" dirty="0"/>
          </a:p>
        </p:txBody>
      </p:sp>
      <p:sp>
        <p:nvSpPr>
          <p:cNvPr id="22" name="Text 20"/>
          <p:cNvSpPr txBox="1"/>
          <p:nvPr/>
        </p:nvSpPr>
        <p:spPr>
          <a:xfrm>
            <a:off x="7466076" y="3383280"/>
            <a:ext cx="3945636"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Decoding &amp; Agents</a:t>
            </a:r>
            <a:endParaRPr lang="en-US" sz="1600" dirty="0"/>
          </a:p>
        </p:txBody>
      </p:sp>
      <p:sp>
        <p:nvSpPr>
          <p:cNvPr id="23" name="Text 21"/>
          <p:cNvSpPr txBox="1"/>
          <p:nvPr/>
        </p:nvSpPr>
        <p:spPr>
          <a:xfrm>
            <a:off x="7466076" y="3813048"/>
            <a:ext cx="3945636" cy="64008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How text comes out, and how agents are built on top</a:t>
            </a:r>
            <a:endParaRPr lang="en-US" sz="1250" dirty="0"/>
          </a:p>
        </p:txBody>
      </p:sp>
      <p:sp>
        <p:nvSpPr>
          <p:cNvPr id="24" name="Shape 22"/>
          <p:cNvSpPr/>
          <p:nvPr/>
        </p:nvSpPr>
        <p:spPr>
          <a:xfrm>
            <a:off x="548640" y="4709160"/>
            <a:ext cx="5408676" cy="1417320"/>
          </a:xfrm>
          <a:prstGeom prst="roundRect">
            <a:avLst>
              <a:gd name="adj" fmla="val 6452"/>
            </a:avLst>
          </a:prstGeom>
          <a:solidFill>
            <a:srgbClr val="F7F8FC"/>
          </a:solidFill>
          <a:ln/>
        </p:spPr>
      </p:sp>
      <p:sp>
        <p:nvSpPr>
          <p:cNvPr id="25" name="Shape 23"/>
          <p:cNvSpPr/>
          <p:nvPr/>
        </p:nvSpPr>
        <p:spPr>
          <a:xfrm>
            <a:off x="777240" y="4965192"/>
            <a:ext cx="822960" cy="822960"/>
          </a:xfrm>
          <a:prstGeom prst="roundRect">
            <a:avLst>
              <a:gd name="adj" fmla="val 11111"/>
            </a:avLst>
          </a:prstGeom>
          <a:solidFill>
            <a:srgbClr val="C99A2E"/>
          </a:solidFill>
          <a:ln/>
        </p:spPr>
      </p:sp>
      <p:sp>
        <p:nvSpPr>
          <p:cNvPr id="26" name="Text 24"/>
          <p:cNvSpPr txBox="1"/>
          <p:nvPr/>
        </p:nvSpPr>
        <p:spPr>
          <a:xfrm>
            <a:off x="777240" y="496519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05</a:t>
            </a:r>
            <a:endParaRPr lang="en-US" sz="2400" dirty="0"/>
          </a:p>
        </p:txBody>
      </p:sp>
      <p:sp>
        <p:nvSpPr>
          <p:cNvPr id="27" name="Text 25"/>
          <p:cNvSpPr txBox="1"/>
          <p:nvPr/>
        </p:nvSpPr>
        <p:spPr>
          <a:xfrm>
            <a:off x="1783080" y="4937760"/>
            <a:ext cx="3945636"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Provable Limits</a:t>
            </a:r>
            <a:endParaRPr lang="en-US" sz="1600" dirty="0"/>
          </a:p>
        </p:txBody>
      </p:sp>
      <p:sp>
        <p:nvSpPr>
          <p:cNvPr id="28" name="Text 26"/>
          <p:cNvSpPr txBox="1"/>
          <p:nvPr/>
        </p:nvSpPr>
        <p:spPr>
          <a:xfrm>
            <a:off x="1783080" y="5367528"/>
            <a:ext cx="3945636" cy="64008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What theory says LLMs structurally can't do</a:t>
            </a:r>
            <a:endParaRPr lang="en-US" sz="1250" dirty="0"/>
          </a:p>
        </p:txBody>
      </p:sp>
      <p:sp>
        <p:nvSpPr>
          <p:cNvPr id="29" name="Shape 27"/>
          <p:cNvSpPr/>
          <p:nvPr/>
        </p:nvSpPr>
        <p:spPr>
          <a:xfrm>
            <a:off x="6231636" y="4709160"/>
            <a:ext cx="5408676" cy="1417320"/>
          </a:xfrm>
          <a:prstGeom prst="roundRect">
            <a:avLst>
              <a:gd name="adj" fmla="val 6452"/>
            </a:avLst>
          </a:prstGeom>
          <a:solidFill>
            <a:srgbClr val="F7F8FC"/>
          </a:solidFill>
          <a:ln/>
        </p:spPr>
      </p:sp>
      <p:sp>
        <p:nvSpPr>
          <p:cNvPr id="30" name="Shape 28"/>
          <p:cNvSpPr/>
          <p:nvPr/>
        </p:nvSpPr>
        <p:spPr>
          <a:xfrm>
            <a:off x="6460236" y="4965192"/>
            <a:ext cx="822960" cy="822960"/>
          </a:xfrm>
          <a:prstGeom prst="roundRect">
            <a:avLst>
              <a:gd name="adj" fmla="val 11111"/>
            </a:avLst>
          </a:prstGeom>
          <a:solidFill>
            <a:srgbClr val="C99A2E"/>
          </a:solidFill>
          <a:ln/>
        </p:spPr>
      </p:sp>
      <p:sp>
        <p:nvSpPr>
          <p:cNvPr id="31" name="Text 29"/>
          <p:cNvSpPr txBox="1"/>
          <p:nvPr/>
        </p:nvSpPr>
        <p:spPr>
          <a:xfrm>
            <a:off x="6460236" y="496519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06</a:t>
            </a:r>
            <a:endParaRPr lang="en-US" sz="2400" dirty="0"/>
          </a:p>
        </p:txBody>
      </p:sp>
      <p:sp>
        <p:nvSpPr>
          <p:cNvPr id="32" name="Text 30"/>
          <p:cNvSpPr txBox="1"/>
          <p:nvPr/>
        </p:nvSpPr>
        <p:spPr>
          <a:xfrm>
            <a:off x="7466076" y="4937760"/>
            <a:ext cx="3945636"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Full Map</a:t>
            </a:r>
            <a:endParaRPr lang="en-US" sz="1600" dirty="0"/>
          </a:p>
        </p:txBody>
      </p:sp>
      <p:sp>
        <p:nvSpPr>
          <p:cNvPr id="33" name="Text 31"/>
          <p:cNvSpPr txBox="1"/>
          <p:nvPr/>
        </p:nvSpPr>
        <p:spPr>
          <a:xfrm>
            <a:off x="7466076" y="5367528"/>
            <a:ext cx="3945636" cy="640080"/>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Every pipeline stage, matched to a course week</a:t>
            </a:r>
            <a:endParaRPr lang="en-US" sz="1250" dirty="0"/>
          </a:p>
        </p:txBody>
      </p:sp>
      <p:sp>
        <p:nvSpPr>
          <p:cNvPr id="34" name="Text 32"/>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THE BIG PICTURE</a:t>
            </a:r>
            <a:endParaRPr lang="en-US" sz="13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The whole pipeline, in one diagram</a:t>
            </a:r>
            <a:endParaRPr lang="en-US" sz="3200" dirty="0"/>
          </a:p>
        </p:txBody>
      </p:sp>
      <p:sp>
        <p:nvSpPr>
          <p:cNvPr id="4" name="Shape 2"/>
          <p:cNvSpPr/>
          <p:nvPr/>
        </p:nvSpPr>
        <p:spPr>
          <a:xfrm>
            <a:off x="653796" y="2377440"/>
            <a:ext cx="1600200" cy="1188720"/>
          </a:xfrm>
          <a:prstGeom prst="roundRect">
            <a:avLst>
              <a:gd name="adj" fmla="val 7692"/>
            </a:avLst>
          </a:prstGeom>
          <a:solidFill>
            <a:srgbClr val="6B7280"/>
          </a:solidFill>
          <a:ln/>
        </p:spPr>
      </p:sp>
      <p:sp>
        <p:nvSpPr>
          <p:cNvPr id="5" name="Text 3"/>
          <p:cNvSpPr txBox="1"/>
          <p:nvPr/>
        </p:nvSpPr>
        <p:spPr>
          <a:xfrm>
            <a:off x="653796" y="2377440"/>
            <a:ext cx="1600200" cy="118872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Text</a:t>
            </a:r>
            <a:endParaRPr lang="en-US" sz="1300" dirty="0"/>
          </a:p>
        </p:txBody>
      </p:sp>
      <p:sp>
        <p:nvSpPr>
          <p:cNvPr id="6" name="Shape 4"/>
          <p:cNvSpPr/>
          <p:nvPr/>
        </p:nvSpPr>
        <p:spPr>
          <a:xfrm>
            <a:off x="2253996" y="2971800"/>
            <a:ext cx="256032" cy="0"/>
          </a:xfrm>
          <a:prstGeom prst="line">
            <a:avLst/>
          </a:prstGeom>
          <a:noFill/>
          <a:ln w="25400">
            <a:solidFill>
              <a:srgbClr val="2B2B33"/>
            </a:solidFill>
            <a:prstDash val="solid"/>
            <a:tailEnd type="triangle"/>
          </a:ln>
        </p:spPr>
      </p:sp>
      <p:sp>
        <p:nvSpPr>
          <p:cNvPr id="7" name="Shape 5"/>
          <p:cNvSpPr/>
          <p:nvPr/>
        </p:nvSpPr>
        <p:spPr>
          <a:xfrm>
            <a:off x="2510028" y="2377440"/>
            <a:ext cx="1600200" cy="1188720"/>
          </a:xfrm>
          <a:prstGeom prst="roundRect">
            <a:avLst>
              <a:gd name="adj" fmla="val 7692"/>
            </a:avLst>
          </a:prstGeom>
          <a:solidFill>
            <a:srgbClr val="1E2761"/>
          </a:solidFill>
          <a:ln/>
        </p:spPr>
      </p:sp>
      <p:sp>
        <p:nvSpPr>
          <p:cNvPr id="8" name="Text 6"/>
          <p:cNvSpPr txBox="1"/>
          <p:nvPr/>
        </p:nvSpPr>
        <p:spPr>
          <a:xfrm>
            <a:off x="2510028" y="2377440"/>
            <a:ext cx="1600200" cy="118872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Tokens</a:t>
            </a:r>
            <a:endParaRPr lang="en-US" sz="1300" dirty="0"/>
          </a:p>
        </p:txBody>
      </p:sp>
      <p:sp>
        <p:nvSpPr>
          <p:cNvPr id="9" name="Shape 7"/>
          <p:cNvSpPr/>
          <p:nvPr/>
        </p:nvSpPr>
        <p:spPr>
          <a:xfrm>
            <a:off x="4110228" y="2971800"/>
            <a:ext cx="256032" cy="0"/>
          </a:xfrm>
          <a:prstGeom prst="line">
            <a:avLst/>
          </a:prstGeom>
          <a:noFill/>
          <a:ln w="25400">
            <a:solidFill>
              <a:srgbClr val="2B2B33"/>
            </a:solidFill>
            <a:prstDash val="solid"/>
            <a:tailEnd type="triangle"/>
          </a:ln>
        </p:spPr>
      </p:sp>
      <p:sp>
        <p:nvSpPr>
          <p:cNvPr id="10" name="Shape 8"/>
          <p:cNvSpPr/>
          <p:nvPr/>
        </p:nvSpPr>
        <p:spPr>
          <a:xfrm>
            <a:off x="4366260" y="2377440"/>
            <a:ext cx="1600200" cy="1188720"/>
          </a:xfrm>
          <a:prstGeom prst="roundRect">
            <a:avLst>
              <a:gd name="adj" fmla="val 7692"/>
            </a:avLst>
          </a:prstGeom>
          <a:solidFill>
            <a:srgbClr val="5C68BC"/>
          </a:solidFill>
          <a:ln/>
        </p:spPr>
      </p:sp>
      <p:sp>
        <p:nvSpPr>
          <p:cNvPr id="11" name="Text 9"/>
          <p:cNvSpPr txBox="1"/>
          <p:nvPr/>
        </p:nvSpPr>
        <p:spPr>
          <a:xfrm>
            <a:off x="4366260" y="2377440"/>
            <a:ext cx="1600200" cy="118872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Embeddings</a:t>
            </a:r>
            <a:endParaRPr lang="en-US" sz="1300" dirty="0"/>
          </a:p>
        </p:txBody>
      </p:sp>
      <p:sp>
        <p:nvSpPr>
          <p:cNvPr id="12" name="Shape 10"/>
          <p:cNvSpPr/>
          <p:nvPr/>
        </p:nvSpPr>
        <p:spPr>
          <a:xfrm>
            <a:off x="5966460" y="2971800"/>
            <a:ext cx="256032" cy="0"/>
          </a:xfrm>
          <a:prstGeom prst="line">
            <a:avLst/>
          </a:prstGeom>
          <a:noFill/>
          <a:ln w="25400">
            <a:solidFill>
              <a:srgbClr val="2B2B33"/>
            </a:solidFill>
            <a:prstDash val="solid"/>
            <a:tailEnd type="triangle"/>
          </a:ln>
        </p:spPr>
      </p:sp>
      <p:sp>
        <p:nvSpPr>
          <p:cNvPr id="13" name="Shape 11"/>
          <p:cNvSpPr/>
          <p:nvPr/>
        </p:nvSpPr>
        <p:spPr>
          <a:xfrm>
            <a:off x="6222492" y="2377440"/>
            <a:ext cx="1600200" cy="1188720"/>
          </a:xfrm>
          <a:prstGeom prst="roundRect">
            <a:avLst>
              <a:gd name="adj" fmla="val 7692"/>
            </a:avLst>
          </a:prstGeom>
          <a:solidFill>
            <a:srgbClr val="4A2E7A"/>
          </a:solidFill>
          <a:ln/>
        </p:spPr>
      </p:sp>
      <p:sp>
        <p:nvSpPr>
          <p:cNvPr id="14" name="Text 12"/>
          <p:cNvSpPr txBox="1"/>
          <p:nvPr/>
        </p:nvSpPr>
        <p:spPr>
          <a:xfrm>
            <a:off x="6222492" y="2377440"/>
            <a:ext cx="1600200" cy="118872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Transformer</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Layers</a:t>
            </a:r>
            <a:endParaRPr lang="en-US" sz="1300" dirty="0"/>
          </a:p>
        </p:txBody>
      </p:sp>
      <p:sp>
        <p:nvSpPr>
          <p:cNvPr id="15" name="Shape 13"/>
          <p:cNvSpPr/>
          <p:nvPr/>
        </p:nvSpPr>
        <p:spPr>
          <a:xfrm>
            <a:off x="7822692" y="2971800"/>
            <a:ext cx="256032" cy="0"/>
          </a:xfrm>
          <a:prstGeom prst="line">
            <a:avLst/>
          </a:prstGeom>
          <a:noFill/>
          <a:ln w="25400">
            <a:solidFill>
              <a:srgbClr val="2B2B33"/>
            </a:solidFill>
            <a:prstDash val="solid"/>
            <a:tailEnd type="triangle"/>
          </a:ln>
        </p:spPr>
      </p:sp>
      <p:sp>
        <p:nvSpPr>
          <p:cNvPr id="16" name="Shape 14"/>
          <p:cNvSpPr/>
          <p:nvPr/>
        </p:nvSpPr>
        <p:spPr>
          <a:xfrm>
            <a:off x="8078724" y="2377440"/>
            <a:ext cx="1600200" cy="1188720"/>
          </a:xfrm>
          <a:prstGeom prst="roundRect">
            <a:avLst>
              <a:gd name="adj" fmla="val 7692"/>
            </a:avLst>
          </a:prstGeom>
          <a:solidFill>
            <a:srgbClr val="7A2E4A"/>
          </a:solidFill>
          <a:ln/>
        </p:spPr>
      </p:sp>
      <p:sp>
        <p:nvSpPr>
          <p:cNvPr id="17" name="Text 15"/>
          <p:cNvSpPr txBox="1"/>
          <p:nvPr/>
        </p:nvSpPr>
        <p:spPr>
          <a:xfrm>
            <a:off x="8078724" y="2377440"/>
            <a:ext cx="1600200" cy="118872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Probabilities</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over Σ</a:t>
            </a:r>
            <a:endParaRPr lang="en-US" sz="1300" dirty="0"/>
          </a:p>
        </p:txBody>
      </p:sp>
      <p:sp>
        <p:nvSpPr>
          <p:cNvPr id="18" name="Shape 16"/>
          <p:cNvSpPr/>
          <p:nvPr/>
        </p:nvSpPr>
        <p:spPr>
          <a:xfrm>
            <a:off x="9678924" y="2971800"/>
            <a:ext cx="256032" cy="0"/>
          </a:xfrm>
          <a:prstGeom prst="line">
            <a:avLst/>
          </a:prstGeom>
          <a:noFill/>
          <a:ln w="25400">
            <a:solidFill>
              <a:srgbClr val="2B2B33"/>
            </a:solidFill>
            <a:prstDash val="solid"/>
            <a:tailEnd type="triangle"/>
          </a:ln>
        </p:spPr>
      </p:sp>
      <p:sp>
        <p:nvSpPr>
          <p:cNvPr id="19" name="Shape 17"/>
          <p:cNvSpPr/>
          <p:nvPr/>
        </p:nvSpPr>
        <p:spPr>
          <a:xfrm>
            <a:off x="9934956" y="2377440"/>
            <a:ext cx="1600200" cy="1188720"/>
          </a:xfrm>
          <a:prstGeom prst="roundRect">
            <a:avLst>
              <a:gd name="adj" fmla="val 7692"/>
            </a:avLst>
          </a:prstGeom>
          <a:solidFill>
            <a:srgbClr val="C99A2E"/>
          </a:solidFill>
          <a:ln/>
        </p:spPr>
      </p:sp>
      <p:sp>
        <p:nvSpPr>
          <p:cNvPr id="20" name="Text 18"/>
          <p:cNvSpPr txBox="1"/>
          <p:nvPr/>
        </p:nvSpPr>
        <p:spPr>
          <a:xfrm>
            <a:off x="9934956" y="2377440"/>
            <a:ext cx="1600200" cy="118872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Next</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Token</a:t>
            </a:r>
            <a:endParaRPr lang="en-US" sz="1300" dirty="0"/>
          </a:p>
        </p:txBody>
      </p:sp>
      <p:sp>
        <p:nvSpPr>
          <p:cNvPr id="21" name="Shape 19"/>
          <p:cNvSpPr/>
          <p:nvPr/>
        </p:nvSpPr>
        <p:spPr>
          <a:xfrm>
            <a:off x="10735056" y="3566160"/>
            <a:ext cx="0" cy="502920"/>
          </a:xfrm>
          <a:prstGeom prst="line">
            <a:avLst/>
          </a:prstGeom>
          <a:noFill/>
          <a:ln w="25400">
            <a:solidFill>
              <a:srgbClr val="C99A2E"/>
            </a:solidFill>
            <a:prstDash val="solid"/>
          </a:ln>
        </p:spPr>
      </p:sp>
      <p:sp>
        <p:nvSpPr>
          <p:cNvPr id="22" name="Shape 20"/>
          <p:cNvSpPr/>
          <p:nvPr/>
        </p:nvSpPr>
        <p:spPr>
          <a:xfrm>
            <a:off x="1453896" y="4069080"/>
            <a:ext cx="9281160" cy="0"/>
          </a:xfrm>
          <a:prstGeom prst="line">
            <a:avLst/>
          </a:prstGeom>
          <a:noFill/>
          <a:ln w="25400">
            <a:solidFill>
              <a:srgbClr val="C99A2E"/>
            </a:solidFill>
            <a:prstDash val="solid"/>
          </a:ln>
        </p:spPr>
      </p:sp>
      <p:sp>
        <p:nvSpPr>
          <p:cNvPr id="23" name="Shape 21"/>
          <p:cNvSpPr/>
          <p:nvPr/>
        </p:nvSpPr>
        <p:spPr>
          <a:xfrm>
            <a:off x="1453896" y="3566160"/>
            <a:ext cx="0" cy="502920"/>
          </a:xfrm>
          <a:prstGeom prst="line">
            <a:avLst/>
          </a:prstGeom>
          <a:noFill/>
          <a:ln w="25400">
            <a:solidFill>
              <a:srgbClr val="C99A2E"/>
            </a:solidFill>
            <a:prstDash val="solid"/>
            <a:tailEnd type="triangle"/>
          </a:ln>
        </p:spPr>
      </p:sp>
      <p:sp>
        <p:nvSpPr>
          <p:cNvPr id="24" name="Text 22"/>
          <p:cNvSpPr txBox="1"/>
          <p:nvPr/>
        </p:nvSpPr>
        <p:spPr>
          <a:xfrm>
            <a:off x="653796" y="4160520"/>
            <a:ext cx="10881360" cy="320040"/>
          </a:xfrm>
          <a:prstGeom prst="rect">
            <a:avLst/>
          </a:prstGeom>
          <a:noFill/>
          <a:ln/>
        </p:spPr>
        <p:txBody>
          <a:bodyPr wrap="square" lIns="0" tIns="0" rIns="0" bIns="0" rtlCol="0" anchor="ctr"/>
          <a:lstStyle/>
          <a:p>
            <a:pPr algn="ctr" indent="0" marL="0">
              <a:buNone/>
            </a:pPr>
            <a:r>
              <a:rPr lang="en-US" sz="1200" b="1" i="1" dirty="0">
                <a:solidFill>
                  <a:srgbClr val="C99A2E"/>
                </a:solidFill>
                <a:latin typeface="Calibri" pitchFamily="34" charset="0"/>
                <a:ea typeface="Calibri" pitchFamily="34" charset="-122"/>
                <a:cs typeface="Calibri" pitchFamily="34" charset="-120"/>
              </a:rPr>
              <a:t>repeat — one token at a time ("autoregressive" generation)</a:t>
            </a:r>
            <a:endParaRPr lang="en-US" sz="1200" dirty="0"/>
          </a:p>
        </p:txBody>
      </p:sp>
      <p:sp>
        <p:nvSpPr>
          <p:cNvPr id="25" name="Text 23"/>
          <p:cNvSpPr txBox="1"/>
          <p:nvPr/>
        </p:nvSpPr>
        <p:spPr>
          <a:xfrm>
            <a:off x="548640" y="5029200"/>
            <a:ext cx="11091672" cy="731520"/>
          </a:xfrm>
          <a:prstGeom prst="rect">
            <a:avLst/>
          </a:prstGeom>
          <a:noFill/>
          <a:ln/>
        </p:spPr>
        <p:txBody>
          <a:bodyPr wrap="square" lIns="0" tIns="0" rIns="0" bIns="0" rtlCol="0" anchor="ctr"/>
          <a:lstStyle/>
          <a:p>
            <a:pPr algn="ctr" indent="0" marL="0">
              <a:lnSpc>
                <a:spcPct val="125000"/>
              </a:lnSpc>
              <a:buNone/>
            </a:pPr>
            <a:r>
              <a:rPr lang="en-US" sz="1500" i="1" dirty="0">
                <a:solidFill>
                  <a:srgbClr val="2B2B33"/>
                </a:solidFill>
                <a:latin typeface="Calibri" pitchFamily="34" charset="0"/>
                <a:ea typeface="Calibri" pitchFamily="34" charset="-122"/>
                <a:cs typeface="Calibri" pitchFamily="34" charset="-120"/>
              </a:rPr>
              <a:t>Every arrow in this diagram is one of the next 4 slides — and every box is, underneath, an object from Week 1's vocabulary: an alphabet, a string, or a language.</a:t>
            </a:r>
            <a:endParaRPr lang="en-US" sz="1500" dirty="0"/>
          </a:p>
        </p:txBody>
      </p:sp>
      <p:sp>
        <p:nvSpPr>
          <p:cNvPr id="26" name="Text 24"/>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THE FORWARD PASS — STEP 1</a:t>
            </a:r>
            <a:endParaRPr lang="en-US" sz="1300" dirty="0"/>
          </a:p>
        </p:txBody>
      </p:sp>
      <p:sp>
        <p:nvSpPr>
          <p:cNvPr id="3" name="Shape 1"/>
          <p:cNvSpPr/>
          <p:nvPr/>
        </p:nvSpPr>
        <p:spPr>
          <a:xfrm>
            <a:off x="3364992" y="201168"/>
            <a:ext cx="1828800" cy="310896"/>
          </a:xfrm>
          <a:prstGeom prst="roundRect">
            <a:avLst>
              <a:gd name="adj" fmla="val 50000"/>
            </a:avLst>
          </a:prstGeom>
          <a:solidFill>
            <a:srgbClr val="C99A2E"/>
          </a:solidFill>
          <a:ln/>
        </p:spPr>
      </p:sp>
      <p:sp>
        <p:nvSpPr>
          <p:cNvPr id="4" name="Text 2"/>
          <p:cNvSpPr txBox="1"/>
          <p:nvPr/>
        </p:nvSpPr>
        <p:spPr>
          <a:xfrm>
            <a:off x="3364992" y="201168"/>
            <a:ext cx="18288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Tokenize</a:t>
            </a:r>
            <a:endParaRPr lang="en-US" sz="1050" dirty="0"/>
          </a:p>
        </p:txBody>
      </p:sp>
      <p:sp>
        <p:nvSpPr>
          <p:cNvPr id="5" name="Shape 3"/>
          <p:cNvSpPr/>
          <p:nvPr/>
        </p:nvSpPr>
        <p:spPr>
          <a:xfrm>
            <a:off x="5513832" y="201168"/>
            <a:ext cx="1828800" cy="310896"/>
          </a:xfrm>
          <a:prstGeom prst="roundRect">
            <a:avLst>
              <a:gd name="adj" fmla="val 50000"/>
            </a:avLst>
          </a:prstGeom>
          <a:solidFill>
            <a:srgbClr val="E4E7F2"/>
          </a:solidFill>
          <a:ln/>
        </p:spPr>
      </p:sp>
      <p:sp>
        <p:nvSpPr>
          <p:cNvPr id="6" name="Text 4"/>
          <p:cNvSpPr txBox="1"/>
          <p:nvPr/>
        </p:nvSpPr>
        <p:spPr>
          <a:xfrm>
            <a:off x="551383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2. Embed</a:t>
            </a:r>
            <a:endParaRPr lang="en-US" sz="1050" dirty="0"/>
          </a:p>
        </p:txBody>
      </p:sp>
      <p:sp>
        <p:nvSpPr>
          <p:cNvPr id="7" name="Shape 5"/>
          <p:cNvSpPr/>
          <p:nvPr/>
        </p:nvSpPr>
        <p:spPr>
          <a:xfrm>
            <a:off x="7662672" y="201168"/>
            <a:ext cx="1828800" cy="310896"/>
          </a:xfrm>
          <a:prstGeom prst="roundRect">
            <a:avLst>
              <a:gd name="adj" fmla="val 50000"/>
            </a:avLst>
          </a:prstGeom>
          <a:solidFill>
            <a:srgbClr val="E4E7F2"/>
          </a:solidFill>
          <a:ln/>
        </p:spPr>
      </p:sp>
      <p:sp>
        <p:nvSpPr>
          <p:cNvPr id="8" name="Text 6"/>
          <p:cNvSpPr txBox="1"/>
          <p:nvPr/>
        </p:nvSpPr>
        <p:spPr>
          <a:xfrm>
            <a:off x="766267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3. Attend</a:t>
            </a:r>
            <a:endParaRPr lang="en-US" sz="1050" dirty="0"/>
          </a:p>
        </p:txBody>
      </p:sp>
      <p:sp>
        <p:nvSpPr>
          <p:cNvPr id="9" name="Shape 7"/>
          <p:cNvSpPr/>
          <p:nvPr/>
        </p:nvSpPr>
        <p:spPr>
          <a:xfrm>
            <a:off x="9811512" y="201168"/>
            <a:ext cx="1828800" cy="310896"/>
          </a:xfrm>
          <a:prstGeom prst="roundRect">
            <a:avLst>
              <a:gd name="adj" fmla="val 50000"/>
            </a:avLst>
          </a:prstGeom>
          <a:solidFill>
            <a:srgbClr val="E4E7F2"/>
          </a:solidFill>
          <a:ln/>
        </p:spPr>
      </p:sp>
      <p:sp>
        <p:nvSpPr>
          <p:cNvPr id="10" name="Text 8"/>
          <p:cNvSpPr txBox="1"/>
          <p:nvPr/>
        </p:nvSpPr>
        <p:spPr>
          <a:xfrm>
            <a:off x="981151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4. Predict</a:t>
            </a:r>
            <a:endParaRPr lang="en-US" sz="1050" dirty="0"/>
          </a:p>
        </p:txBody>
      </p:sp>
      <p:sp>
        <p:nvSpPr>
          <p:cNvPr id="11" name="Text 9"/>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Tokenization: text becomes symbols</a:t>
            </a:r>
            <a:endParaRPr lang="en-US" sz="3200" dirty="0"/>
          </a:p>
        </p:txBody>
      </p:sp>
      <p:sp>
        <p:nvSpPr>
          <p:cNvPr id="12" name="Text 10"/>
          <p:cNvSpPr txBox="1"/>
          <p:nvPr/>
        </p:nvSpPr>
        <p:spPr>
          <a:xfrm>
            <a:off x="548640" y="1554480"/>
            <a:ext cx="11091672" cy="640080"/>
          </a:xfrm>
          <a:prstGeom prst="rect">
            <a:avLst/>
          </a:prstGeom>
          <a:noFill/>
          <a:ln/>
        </p:spPr>
        <p:txBody>
          <a:bodyPr wrap="square" lIns="0" tIns="0" rIns="0" bIns="0" rtlCol="0" anchor="ctr"/>
          <a:lstStyle/>
          <a:p>
            <a:pPr indent="0" marL="0">
              <a:lnSpc>
                <a:spcPct val="120000"/>
              </a:lnSpc>
              <a:buNone/>
            </a:pPr>
            <a:r>
              <a:rPr lang="en-US" sz="1500" dirty="0">
                <a:solidFill>
                  <a:srgbClr val="2B2B33"/>
                </a:solidFill>
                <a:latin typeface="Calibri" pitchFamily="34" charset="0"/>
                <a:ea typeface="Calibri" pitchFamily="34" charset="-122"/>
                <a:cs typeface="Calibri" pitchFamily="34" charset="-120"/>
              </a:rPr>
              <a:t>A tokenizer (usually Byte-Pair Encoding) splits raw text into a sequence of tokens from a fixed, finite vocabulary — often 100K–200K entries.</a:t>
            </a:r>
            <a:endParaRPr lang="en-US" sz="1500" dirty="0"/>
          </a:p>
        </p:txBody>
      </p:sp>
      <p:sp>
        <p:nvSpPr>
          <p:cNvPr id="13" name="Shape 11"/>
          <p:cNvSpPr/>
          <p:nvPr/>
        </p:nvSpPr>
        <p:spPr>
          <a:xfrm>
            <a:off x="548640" y="2331720"/>
            <a:ext cx="11091672" cy="1371600"/>
          </a:xfrm>
          <a:prstGeom prst="roundRect">
            <a:avLst>
              <a:gd name="adj" fmla="val 6667"/>
            </a:avLst>
          </a:prstGeom>
          <a:solidFill>
            <a:srgbClr val="141B49"/>
          </a:solidFill>
          <a:ln/>
        </p:spPr>
      </p:sp>
      <p:sp>
        <p:nvSpPr>
          <p:cNvPr id="14" name="Shape 12"/>
          <p:cNvSpPr/>
          <p:nvPr/>
        </p:nvSpPr>
        <p:spPr>
          <a:xfrm>
            <a:off x="822960" y="2606040"/>
            <a:ext cx="1737360" cy="640080"/>
          </a:xfrm>
          <a:prstGeom prst="roundRect">
            <a:avLst>
              <a:gd name="adj" fmla="val 11429"/>
            </a:avLst>
          </a:prstGeom>
          <a:solidFill>
            <a:srgbClr val="C99A2E"/>
          </a:solidFill>
          <a:ln/>
        </p:spPr>
      </p:sp>
      <p:sp>
        <p:nvSpPr>
          <p:cNvPr id="15" name="Text 13"/>
          <p:cNvSpPr txBox="1"/>
          <p:nvPr/>
        </p:nvSpPr>
        <p:spPr>
          <a:xfrm>
            <a:off x="822960" y="260604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Under</a:t>
            </a:r>
            <a:endParaRPr lang="en-US" sz="1400" dirty="0"/>
          </a:p>
        </p:txBody>
      </p:sp>
      <p:sp>
        <p:nvSpPr>
          <p:cNvPr id="16" name="Shape 14"/>
          <p:cNvSpPr/>
          <p:nvPr/>
        </p:nvSpPr>
        <p:spPr>
          <a:xfrm>
            <a:off x="2697480" y="2606040"/>
            <a:ext cx="1737360" cy="640080"/>
          </a:xfrm>
          <a:prstGeom prst="roundRect">
            <a:avLst>
              <a:gd name="adj" fmla="val 11429"/>
            </a:avLst>
          </a:prstGeom>
          <a:solidFill>
            <a:srgbClr val="3A4694"/>
          </a:solidFill>
          <a:ln/>
        </p:spPr>
      </p:sp>
      <p:sp>
        <p:nvSpPr>
          <p:cNvPr id="17" name="Text 15"/>
          <p:cNvSpPr txBox="1"/>
          <p:nvPr/>
        </p:nvSpPr>
        <p:spPr>
          <a:xfrm>
            <a:off x="2697480" y="260604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stand</a:t>
            </a:r>
            <a:endParaRPr lang="en-US" sz="1400" dirty="0"/>
          </a:p>
        </p:txBody>
      </p:sp>
      <p:sp>
        <p:nvSpPr>
          <p:cNvPr id="18" name="Shape 16"/>
          <p:cNvSpPr/>
          <p:nvPr/>
        </p:nvSpPr>
        <p:spPr>
          <a:xfrm>
            <a:off x="4572000" y="2606040"/>
            <a:ext cx="1737360" cy="640080"/>
          </a:xfrm>
          <a:prstGeom prst="roundRect">
            <a:avLst>
              <a:gd name="adj" fmla="val 11429"/>
            </a:avLst>
          </a:prstGeom>
          <a:solidFill>
            <a:srgbClr val="C99A2E"/>
          </a:solidFill>
          <a:ln/>
        </p:spPr>
      </p:sp>
      <p:sp>
        <p:nvSpPr>
          <p:cNvPr id="19" name="Text 17"/>
          <p:cNvSpPr txBox="1"/>
          <p:nvPr/>
        </p:nvSpPr>
        <p:spPr>
          <a:xfrm>
            <a:off x="4572000" y="260604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ing</a:t>
            </a:r>
            <a:endParaRPr lang="en-US" sz="1400" dirty="0"/>
          </a:p>
        </p:txBody>
      </p:sp>
      <p:sp>
        <p:nvSpPr>
          <p:cNvPr id="20" name="Shape 18"/>
          <p:cNvSpPr/>
          <p:nvPr/>
        </p:nvSpPr>
        <p:spPr>
          <a:xfrm>
            <a:off x="6446520" y="2606040"/>
            <a:ext cx="1737360" cy="640080"/>
          </a:xfrm>
          <a:prstGeom prst="roundRect">
            <a:avLst>
              <a:gd name="adj" fmla="val 11429"/>
            </a:avLst>
          </a:prstGeom>
          <a:solidFill>
            <a:srgbClr val="3A4694"/>
          </a:solidFill>
          <a:ln/>
        </p:spPr>
      </p:sp>
      <p:sp>
        <p:nvSpPr>
          <p:cNvPr id="21" name="Text 19"/>
          <p:cNvSpPr txBox="1"/>
          <p:nvPr/>
        </p:nvSpPr>
        <p:spPr>
          <a:xfrm>
            <a:off x="6446520" y="260604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 token</a:t>
            </a:r>
            <a:endParaRPr lang="en-US" sz="1400" dirty="0"/>
          </a:p>
        </p:txBody>
      </p:sp>
      <p:sp>
        <p:nvSpPr>
          <p:cNvPr id="22" name="Shape 20"/>
          <p:cNvSpPr/>
          <p:nvPr/>
        </p:nvSpPr>
        <p:spPr>
          <a:xfrm>
            <a:off x="8321040" y="2606040"/>
            <a:ext cx="1737360" cy="640080"/>
          </a:xfrm>
          <a:prstGeom prst="roundRect">
            <a:avLst>
              <a:gd name="adj" fmla="val 11429"/>
            </a:avLst>
          </a:prstGeom>
          <a:solidFill>
            <a:srgbClr val="C99A2E"/>
          </a:solidFill>
          <a:ln/>
        </p:spPr>
      </p:sp>
      <p:sp>
        <p:nvSpPr>
          <p:cNvPr id="23" name="Text 21"/>
          <p:cNvSpPr txBox="1"/>
          <p:nvPr/>
        </p:nvSpPr>
        <p:spPr>
          <a:xfrm>
            <a:off x="8321040" y="260604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ization</a:t>
            </a:r>
            <a:endParaRPr lang="en-US" sz="1400" dirty="0"/>
          </a:p>
        </p:txBody>
      </p:sp>
      <p:sp>
        <p:nvSpPr>
          <p:cNvPr id="24" name="Text 22"/>
          <p:cNvSpPr txBox="1"/>
          <p:nvPr/>
        </p:nvSpPr>
        <p:spPr>
          <a:xfrm>
            <a:off x="822960" y="3337560"/>
            <a:ext cx="10543032" cy="320040"/>
          </a:xfrm>
          <a:prstGeom prst="rect">
            <a:avLst/>
          </a:prstGeom>
          <a:noFill/>
          <a:ln/>
        </p:spPr>
        <p:txBody>
          <a:bodyPr wrap="square" lIns="0" tIns="0" rIns="0" bIns="0" rtlCol="0" anchor="ctr"/>
          <a:lstStyle/>
          <a:p>
            <a:pPr indent="0" marL="0">
              <a:buNone/>
            </a:pPr>
            <a:r>
              <a:rPr lang="en-US" sz="1200" i="1" dirty="0">
                <a:solidFill>
                  <a:srgbClr val="9AA5D6"/>
                </a:solidFill>
                <a:latin typeface="Calibri" pitchFamily="34" charset="0"/>
                <a:ea typeface="Calibri" pitchFamily="34" charset="-122"/>
                <a:cs typeface="Calibri" pitchFamily="34" charset="-120"/>
              </a:rPr>
              <a:t>5 tokens from one word — this is exactly why LLMs are historically bad at character-counting ("how many r's in strawberry").</a:t>
            </a:r>
            <a:endParaRPr lang="en-US" sz="1200" dirty="0"/>
          </a:p>
        </p:txBody>
      </p:sp>
      <p:sp>
        <p:nvSpPr>
          <p:cNvPr id="25" name="Shape 23"/>
          <p:cNvSpPr/>
          <p:nvPr/>
        </p:nvSpPr>
        <p:spPr>
          <a:xfrm>
            <a:off x="548640" y="3977640"/>
            <a:ext cx="11091672" cy="1280160"/>
          </a:xfrm>
          <a:prstGeom prst="roundRect">
            <a:avLst>
              <a:gd name="adj" fmla="val 7143"/>
            </a:avLst>
          </a:prstGeom>
          <a:solidFill>
            <a:srgbClr val="FBF3DF"/>
          </a:solidFill>
          <a:ln w="12700">
            <a:solidFill>
              <a:srgbClr val="C99A2E"/>
            </a:solidFill>
            <a:prstDash val="solid"/>
          </a:ln>
        </p:spPr>
      </p:sp>
      <p:sp>
        <p:nvSpPr>
          <p:cNvPr id="26" name="Text 24"/>
          <p:cNvSpPr txBox="1"/>
          <p:nvPr/>
        </p:nvSpPr>
        <p:spPr>
          <a:xfrm>
            <a:off x="822960" y="4069080"/>
            <a:ext cx="10543032" cy="1097280"/>
          </a:xfrm>
          <a:prstGeom prst="rect">
            <a:avLst/>
          </a:prstGeom>
          <a:noFill/>
          <a:ln/>
        </p:spPr>
        <p:txBody>
          <a:bodyPr wrap="square" lIns="0" tIns="0" rIns="0" bIns="0" rtlCol="0" anchor="ctr"/>
          <a:lstStyle/>
          <a:p>
            <a:pPr indent="0" marL="0">
              <a:lnSpc>
                <a:spcPct val="120000"/>
              </a:lnSpc>
              <a:buNone/>
            </a:pPr>
            <a:r>
              <a:rPr lang="en-US" sz="1100" b="1" dirty="0">
                <a:solidFill>
                  <a:srgbClr val="C99A2E"/>
                </a:solidFill>
                <a:latin typeface="Calibri" pitchFamily="34" charset="0"/>
                <a:ea typeface="Calibri" pitchFamily="34" charset="-122"/>
                <a:cs typeface="Calibri" pitchFamily="34" charset="-120"/>
              </a:rPr>
              <a:t>COURSE CONNECTION   </a:t>
            </a:r>
            <a:endParaRPr lang="en-US" sz="1100" dirty="0"/>
          </a:p>
          <a:p>
            <a:pPr indent="0" marL="0">
              <a:lnSpc>
                <a:spcPct val="120000"/>
              </a:lnSpc>
              <a:buNone/>
            </a:pPr>
            <a:r>
              <a:rPr lang="en-US" sz="1350" i="1" dirty="0">
                <a:solidFill>
                  <a:srgbClr val="5C4A0A"/>
                </a:solidFill>
                <a:latin typeface="Calibri" pitchFamily="34" charset="0"/>
                <a:ea typeface="Calibri" pitchFamily="34" charset="-122"/>
                <a:cs typeface="Calibri" pitchFamily="34" charset="-120"/>
              </a:rPr>
              <a:t>Vocabulary = a finite alphabet Σ. A tokenized prompt = a string in Σ*. Splitting text into tokens is itself governed by a regular expression — the same regex/DFA machinery from Week 2, running on real production tokenizers (GPT-2/GPT-4).</a:t>
            </a:r>
            <a:endParaRPr lang="en-US" sz="1100" dirty="0"/>
          </a:p>
        </p:txBody>
      </p:sp>
      <p:sp>
        <p:nvSpPr>
          <p:cNvPr id="27" name="Text 25"/>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THE FORWARD PASS — STEP 2</a:t>
            </a:r>
            <a:endParaRPr lang="en-US" sz="1300" dirty="0"/>
          </a:p>
        </p:txBody>
      </p:sp>
      <p:sp>
        <p:nvSpPr>
          <p:cNvPr id="3" name="Shape 1"/>
          <p:cNvSpPr/>
          <p:nvPr/>
        </p:nvSpPr>
        <p:spPr>
          <a:xfrm>
            <a:off x="3364992" y="201168"/>
            <a:ext cx="1828800" cy="310896"/>
          </a:xfrm>
          <a:prstGeom prst="roundRect">
            <a:avLst>
              <a:gd name="adj" fmla="val 50000"/>
            </a:avLst>
          </a:prstGeom>
          <a:solidFill>
            <a:srgbClr val="E4E7F2"/>
          </a:solidFill>
          <a:ln/>
        </p:spPr>
      </p:sp>
      <p:sp>
        <p:nvSpPr>
          <p:cNvPr id="4" name="Text 2"/>
          <p:cNvSpPr txBox="1"/>
          <p:nvPr/>
        </p:nvSpPr>
        <p:spPr>
          <a:xfrm>
            <a:off x="336499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1. Tokenize</a:t>
            </a:r>
            <a:endParaRPr lang="en-US" sz="1050" dirty="0"/>
          </a:p>
        </p:txBody>
      </p:sp>
      <p:sp>
        <p:nvSpPr>
          <p:cNvPr id="5" name="Shape 3"/>
          <p:cNvSpPr/>
          <p:nvPr/>
        </p:nvSpPr>
        <p:spPr>
          <a:xfrm>
            <a:off x="5513832" y="201168"/>
            <a:ext cx="1828800" cy="310896"/>
          </a:xfrm>
          <a:prstGeom prst="roundRect">
            <a:avLst>
              <a:gd name="adj" fmla="val 50000"/>
            </a:avLst>
          </a:prstGeom>
          <a:solidFill>
            <a:srgbClr val="C99A2E"/>
          </a:solidFill>
          <a:ln/>
        </p:spPr>
      </p:sp>
      <p:sp>
        <p:nvSpPr>
          <p:cNvPr id="6" name="Text 4"/>
          <p:cNvSpPr txBox="1"/>
          <p:nvPr/>
        </p:nvSpPr>
        <p:spPr>
          <a:xfrm>
            <a:off x="5513832" y="201168"/>
            <a:ext cx="18288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Embed</a:t>
            </a:r>
            <a:endParaRPr lang="en-US" sz="1050" dirty="0"/>
          </a:p>
        </p:txBody>
      </p:sp>
      <p:sp>
        <p:nvSpPr>
          <p:cNvPr id="7" name="Shape 5"/>
          <p:cNvSpPr/>
          <p:nvPr/>
        </p:nvSpPr>
        <p:spPr>
          <a:xfrm>
            <a:off x="7662672" y="201168"/>
            <a:ext cx="1828800" cy="310896"/>
          </a:xfrm>
          <a:prstGeom prst="roundRect">
            <a:avLst>
              <a:gd name="adj" fmla="val 50000"/>
            </a:avLst>
          </a:prstGeom>
          <a:solidFill>
            <a:srgbClr val="E4E7F2"/>
          </a:solidFill>
          <a:ln/>
        </p:spPr>
      </p:sp>
      <p:sp>
        <p:nvSpPr>
          <p:cNvPr id="8" name="Text 6"/>
          <p:cNvSpPr txBox="1"/>
          <p:nvPr/>
        </p:nvSpPr>
        <p:spPr>
          <a:xfrm>
            <a:off x="766267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3. Attend</a:t>
            </a:r>
            <a:endParaRPr lang="en-US" sz="1050" dirty="0"/>
          </a:p>
        </p:txBody>
      </p:sp>
      <p:sp>
        <p:nvSpPr>
          <p:cNvPr id="9" name="Shape 7"/>
          <p:cNvSpPr/>
          <p:nvPr/>
        </p:nvSpPr>
        <p:spPr>
          <a:xfrm>
            <a:off x="9811512" y="201168"/>
            <a:ext cx="1828800" cy="310896"/>
          </a:xfrm>
          <a:prstGeom prst="roundRect">
            <a:avLst>
              <a:gd name="adj" fmla="val 50000"/>
            </a:avLst>
          </a:prstGeom>
          <a:solidFill>
            <a:srgbClr val="E4E7F2"/>
          </a:solidFill>
          <a:ln/>
        </p:spPr>
      </p:sp>
      <p:sp>
        <p:nvSpPr>
          <p:cNvPr id="10" name="Text 8"/>
          <p:cNvSpPr txBox="1"/>
          <p:nvPr/>
        </p:nvSpPr>
        <p:spPr>
          <a:xfrm>
            <a:off x="981151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4. Predict</a:t>
            </a:r>
            <a:endParaRPr lang="en-US" sz="1050" dirty="0"/>
          </a:p>
        </p:txBody>
      </p:sp>
      <p:sp>
        <p:nvSpPr>
          <p:cNvPr id="11" name="Text 9"/>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Embeddings: symbols become vectors</a:t>
            </a:r>
            <a:endParaRPr lang="en-US" sz="3200" dirty="0"/>
          </a:p>
        </p:txBody>
      </p:sp>
      <p:sp>
        <p:nvSpPr>
          <p:cNvPr id="12" name="Text 10"/>
          <p:cNvSpPr txBox="1"/>
          <p:nvPr/>
        </p:nvSpPr>
        <p:spPr>
          <a:xfrm>
            <a:off x="548640" y="1554480"/>
            <a:ext cx="11091672" cy="914400"/>
          </a:xfrm>
          <a:prstGeom prst="rect">
            <a:avLst/>
          </a:prstGeom>
          <a:noFill/>
          <a:ln/>
        </p:spPr>
        <p:txBody>
          <a:bodyPr wrap="square" lIns="0" tIns="0" rIns="0" bIns="0" rtlCol="0" anchor="ctr"/>
          <a:lstStyle/>
          <a:p>
            <a:pPr indent="0" marL="0">
              <a:lnSpc>
                <a:spcPct val="125000"/>
              </a:lnSpc>
              <a:buNone/>
            </a:pPr>
            <a:r>
              <a:rPr lang="en-US" sz="1500" dirty="0">
                <a:solidFill>
                  <a:srgbClr val="2B2B33"/>
                </a:solidFill>
                <a:latin typeface="Calibri" pitchFamily="34" charset="0"/>
                <a:ea typeface="Calibri" pitchFamily="34" charset="-122"/>
                <a:cs typeface="Calibri" pitchFamily="34" charset="-120"/>
              </a:rPr>
              <a:t>Each token is looked up in a table and converted to a vector of a few thousand numbers — a point in a high-dimensional space. A position vector is added so the model knows word order.</a:t>
            </a:r>
            <a:endParaRPr lang="en-US" sz="1500" dirty="0"/>
          </a:p>
        </p:txBody>
      </p:sp>
      <p:sp>
        <p:nvSpPr>
          <p:cNvPr id="13" name="Shape 11"/>
          <p:cNvSpPr/>
          <p:nvPr/>
        </p:nvSpPr>
        <p:spPr>
          <a:xfrm>
            <a:off x="548640" y="2651760"/>
            <a:ext cx="5852160" cy="2514600"/>
          </a:xfrm>
          <a:prstGeom prst="roundRect">
            <a:avLst>
              <a:gd name="adj" fmla="val 3636"/>
            </a:avLst>
          </a:prstGeom>
          <a:solidFill>
            <a:srgbClr val="F7F8FC"/>
          </a:solidFill>
          <a:ln/>
        </p:spPr>
      </p:sp>
      <p:sp>
        <p:nvSpPr>
          <p:cNvPr id="14" name="Shape 12"/>
          <p:cNvSpPr/>
          <p:nvPr/>
        </p:nvSpPr>
        <p:spPr>
          <a:xfrm>
            <a:off x="2011680" y="3108960"/>
            <a:ext cx="146304" cy="146304"/>
          </a:xfrm>
          <a:prstGeom prst="ellipse">
            <a:avLst/>
          </a:prstGeom>
          <a:solidFill>
            <a:srgbClr val="1E2761"/>
          </a:solidFill>
          <a:ln/>
        </p:spPr>
      </p:sp>
      <p:sp>
        <p:nvSpPr>
          <p:cNvPr id="15" name="Text 13"/>
          <p:cNvSpPr txBox="1"/>
          <p:nvPr/>
        </p:nvSpPr>
        <p:spPr>
          <a:xfrm>
            <a:off x="1645920" y="3291840"/>
            <a:ext cx="109728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king</a:t>
            </a:r>
            <a:endParaRPr lang="en-US" sz="1200" dirty="0"/>
          </a:p>
        </p:txBody>
      </p:sp>
      <p:sp>
        <p:nvSpPr>
          <p:cNvPr id="16" name="Shape 14"/>
          <p:cNvSpPr/>
          <p:nvPr/>
        </p:nvSpPr>
        <p:spPr>
          <a:xfrm>
            <a:off x="4389120" y="2880360"/>
            <a:ext cx="146304" cy="146304"/>
          </a:xfrm>
          <a:prstGeom prst="ellipse">
            <a:avLst/>
          </a:prstGeom>
          <a:solidFill>
            <a:srgbClr val="1E2761"/>
          </a:solidFill>
          <a:ln/>
        </p:spPr>
      </p:sp>
      <p:sp>
        <p:nvSpPr>
          <p:cNvPr id="17" name="Text 15"/>
          <p:cNvSpPr txBox="1"/>
          <p:nvPr/>
        </p:nvSpPr>
        <p:spPr>
          <a:xfrm>
            <a:off x="4023360" y="3063240"/>
            <a:ext cx="109728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queen</a:t>
            </a:r>
            <a:endParaRPr lang="en-US" sz="1200" dirty="0"/>
          </a:p>
        </p:txBody>
      </p:sp>
      <p:sp>
        <p:nvSpPr>
          <p:cNvPr id="18" name="Shape 16"/>
          <p:cNvSpPr/>
          <p:nvPr/>
        </p:nvSpPr>
        <p:spPr>
          <a:xfrm>
            <a:off x="1828800" y="4297680"/>
            <a:ext cx="146304" cy="146304"/>
          </a:xfrm>
          <a:prstGeom prst="ellipse">
            <a:avLst/>
          </a:prstGeom>
          <a:solidFill>
            <a:srgbClr val="1E2761"/>
          </a:solidFill>
          <a:ln/>
        </p:spPr>
      </p:sp>
      <p:sp>
        <p:nvSpPr>
          <p:cNvPr id="19" name="Text 17"/>
          <p:cNvSpPr txBox="1"/>
          <p:nvPr/>
        </p:nvSpPr>
        <p:spPr>
          <a:xfrm>
            <a:off x="1463040" y="4480560"/>
            <a:ext cx="109728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man</a:t>
            </a:r>
            <a:endParaRPr lang="en-US" sz="1200" dirty="0"/>
          </a:p>
        </p:txBody>
      </p:sp>
      <p:sp>
        <p:nvSpPr>
          <p:cNvPr id="20" name="Shape 18"/>
          <p:cNvSpPr/>
          <p:nvPr/>
        </p:nvSpPr>
        <p:spPr>
          <a:xfrm>
            <a:off x="4206240" y="4069080"/>
            <a:ext cx="146304" cy="146304"/>
          </a:xfrm>
          <a:prstGeom prst="ellipse">
            <a:avLst/>
          </a:prstGeom>
          <a:solidFill>
            <a:srgbClr val="1E2761"/>
          </a:solidFill>
          <a:ln/>
        </p:spPr>
      </p:sp>
      <p:sp>
        <p:nvSpPr>
          <p:cNvPr id="21" name="Text 19"/>
          <p:cNvSpPr txBox="1"/>
          <p:nvPr/>
        </p:nvSpPr>
        <p:spPr>
          <a:xfrm>
            <a:off x="3840480" y="4251960"/>
            <a:ext cx="109728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woman</a:t>
            </a:r>
            <a:endParaRPr lang="en-US" sz="1200" dirty="0"/>
          </a:p>
        </p:txBody>
      </p:sp>
      <p:sp>
        <p:nvSpPr>
          <p:cNvPr id="22" name="Text 20"/>
          <p:cNvSpPr txBox="1"/>
          <p:nvPr/>
        </p:nvSpPr>
        <p:spPr>
          <a:xfrm>
            <a:off x="777240" y="4846320"/>
            <a:ext cx="539496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nearby vectors ≈ related meaning</a:t>
            </a:r>
            <a:endParaRPr lang="en-US" sz="1100" dirty="0"/>
          </a:p>
        </p:txBody>
      </p:sp>
      <p:sp>
        <p:nvSpPr>
          <p:cNvPr id="23" name="Shape 21"/>
          <p:cNvSpPr/>
          <p:nvPr/>
        </p:nvSpPr>
        <p:spPr>
          <a:xfrm>
            <a:off x="6675120" y="2651760"/>
            <a:ext cx="4937760" cy="2743200"/>
          </a:xfrm>
          <a:prstGeom prst="roundRect">
            <a:avLst>
              <a:gd name="adj" fmla="val 3333"/>
            </a:avLst>
          </a:prstGeom>
          <a:solidFill>
            <a:srgbClr val="FBF3DF"/>
          </a:solidFill>
          <a:ln w="12700">
            <a:solidFill>
              <a:srgbClr val="C99A2E"/>
            </a:solidFill>
            <a:prstDash val="solid"/>
          </a:ln>
        </p:spPr>
      </p:sp>
      <p:sp>
        <p:nvSpPr>
          <p:cNvPr id="24" name="Text 22"/>
          <p:cNvSpPr txBox="1"/>
          <p:nvPr/>
        </p:nvSpPr>
        <p:spPr>
          <a:xfrm>
            <a:off x="6903720" y="2834640"/>
            <a:ext cx="4480560" cy="2377440"/>
          </a:xfrm>
          <a:prstGeom prst="rect">
            <a:avLst/>
          </a:prstGeom>
          <a:noFill/>
          <a:ln/>
        </p:spPr>
        <p:txBody>
          <a:bodyPr wrap="square" lIns="0" tIns="0" rIns="0" bIns="0" rtlCol="0" anchor="ctr"/>
          <a:lstStyle/>
          <a:p>
            <a:pPr indent="0" marL="0">
              <a:lnSpc>
                <a:spcPct val="125000"/>
              </a:lnSpc>
              <a:buNone/>
            </a:pPr>
            <a:r>
              <a:rPr lang="en-US" sz="1350" i="1" dirty="0">
                <a:solidFill>
                  <a:srgbClr val="5C4A0A"/>
                </a:solidFill>
                <a:latin typeface="Calibri" pitchFamily="34" charset="0"/>
                <a:ea typeface="Calibri" pitchFamily="34" charset="-122"/>
                <a:cs typeface="Calibri" pitchFamily="34" charset="-120"/>
              </a:rPr>
              <a:t>A lighter course link here — this step is mostly linear algebra, not automata theory. Worth knowing it exists mainly so Step 3 (Attention) makes sense: attention operates on these vectors, not on the original text.</a:t>
            </a:r>
            <a:endParaRPr lang="en-US" sz="1350" dirty="0"/>
          </a:p>
        </p:txBody>
      </p:sp>
      <p:sp>
        <p:nvSpPr>
          <p:cNvPr id="25" name="Text 23"/>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THE FORWARD PASS — STEP 3</a:t>
            </a:r>
            <a:endParaRPr lang="en-US" sz="1300" dirty="0"/>
          </a:p>
        </p:txBody>
      </p:sp>
      <p:sp>
        <p:nvSpPr>
          <p:cNvPr id="3" name="Shape 1"/>
          <p:cNvSpPr/>
          <p:nvPr/>
        </p:nvSpPr>
        <p:spPr>
          <a:xfrm>
            <a:off x="3364992" y="201168"/>
            <a:ext cx="1828800" cy="310896"/>
          </a:xfrm>
          <a:prstGeom prst="roundRect">
            <a:avLst>
              <a:gd name="adj" fmla="val 50000"/>
            </a:avLst>
          </a:prstGeom>
          <a:solidFill>
            <a:srgbClr val="E4E7F2"/>
          </a:solidFill>
          <a:ln/>
        </p:spPr>
      </p:sp>
      <p:sp>
        <p:nvSpPr>
          <p:cNvPr id="4" name="Text 2"/>
          <p:cNvSpPr txBox="1"/>
          <p:nvPr/>
        </p:nvSpPr>
        <p:spPr>
          <a:xfrm>
            <a:off x="336499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1. Tokenize</a:t>
            </a:r>
            <a:endParaRPr lang="en-US" sz="1050" dirty="0"/>
          </a:p>
        </p:txBody>
      </p:sp>
      <p:sp>
        <p:nvSpPr>
          <p:cNvPr id="5" name="Shape 3"/>
          <p:cNvSpPr/>
          <p:nvPr/>
        </p:nvSpPr>
        <p:spPr>
          <a:xfrm>
            <a:off x="5513832" y="201168"/>
            <a:ext cx="1828800" cy="310896"/>
          </a:xfrm>
          <a:prstGeom prst="roundRect">
            <a:avLst>
              <a:gd name="adj" fmla="val 50000"/>
            </a:avLst>
          </a:prstGeom>
          <a:solidFill>
            <a:srgbClr val="E4E7F2"/>
          </a:solidFill>
          <a:ln/>
        </p:spPr>
      </p:sp>
      <p:sp>
        <p:nvSpPr>
          <p:cNvPr id="6" name="Text 4"/>
          <p:cNvSpPr txBox="1"/>
          <p:nvPr/>
        </p:nvSpPr>
        <p:spPr>
          <a:xfrm>
            <a:off x="551383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2. Embed</a:t>
            </a:r>
            <a:endParaRPr lang="en-US" sz="1050" dirty="0"/>
          </a:p>
        </p:txBody>
      </p:sp>
      <p:sp>
        <p:nvSpPr>
          <p:cNvPr id="7" name="Shape 5"/>
          <p:cNvSpPr/>
          <p:nvPr/>
        </p:nvSpPr>
        <p:spPr>
          <a:xfrm>
            <a:off x="7662672" y="201168"/>
            <a:ext cx="1828800" cy="310896"/>
          </a:xfrm>
          <a:prstGeom prst="roundRect">
            <a:avLst>
              <a:gd name="adj" fmla="val 50000"/>
            </a:avLst>
          </a:prstGeom>
          <a:solidFill>
            <a:srgbClr val="C99A2E"/>
          </a:solidFill>
          <a:ln/>
        </p:spPr>
      </p:sp>
      <p:sp>
        <p:nvSpPr>
          <p:cNvPr id="8" name="Text 6"/>
          <p:cNvSpPr txBox="1"/>
          <p:nvPr/>
        </p:nvSpPr>
        <p:spPr>
          <a:xfrm>
            <a:off x="7662672" y="201168"/>
            <a:ext cx="18288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Attend</a:t>
            </a:r>
            <a:endParaRPr lang="en-US" sz="1050" dirty="0"/>
          </a:p>
        </p:txBody>
      </p:sp>
      <p:sp>
        <p:nvSpPr>
          <p:cNvPr id="9" name="Shape 7"/>
          <p:cNvSpPr/>
          <p:nvPr/>
        </p:nvSpPr>
        <p:spPr>
          <a:xfrm>
            <a:off x="9811512" y="201168"/>
            <a:ext cx="1828800" cy="310896"/>
          </a:xfrm>
          <a:prstGeom prst="roundRect">
            <a:avLst>
              <a:gd name="adj" fmla="val 50000"/>
            </a:avLst>
          </a:prstGeom>
          <a:solidFill>
            <a:srgbClr val="E4E7F2"/>
          </a:solidFill>
          <a:ln/>
        </p:spPr>
      </p:sp>
      <p:sp>
        <p:nvSpPr>
          <p:cNvPr id="10" name="Text 8"/>
          <p:cNvSpPr txBox="1"/>
          <p:nvPr/>
        </p:nvSpPr>
        <p:spPr>
          <a:xfrm>
            <a:off x="981151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4. Predict</a:t>
            </a:r>
            <a:endParaRPr lang="en-US" sz="1050" dirty="0"/>
          </a:p>
        </p:txBody>
      </p:sp>
      <p:sp>
        <p:nvSpPr>
          <p:cNvPr id="11" name="Text 9"/>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Self-attention: every token looks at every other</a:t>
            </a:r>
            <a:endParaRPr lang="en-US" sz="3200" dirty="0"/>
          </a:p>
        </p:txBody>
      </p:sp>
      <p:sp>
        <p:nvSpPr>
          <p:cNvPr id="12" name="Text 10"/>
          <p:cNvSpPr txBox="1"/>
          <p:nvPr/>
        </p:nvSpPr>
        <p:spPr>
          <a:xfrm>
            <a:off x="548640" y="1417320"/>
            <a:ext cx="11091672" cy="777240"/>
          </a:xfrm>
          <a:prstGeom prst="rect">
            <a:avLst/>
          </a:prstGeom>
          <a:noFill/>
          <a:ln/>
        </p:spPr>
        <p:txBody>
          <a:bodyPr wrap="square" lIns="0" tIns="0" rIns="0" bIns="0" rtlCol="0" anchor="ctr"/>
          <a:lstStyle/>
          <a:p>
            <a:pPr indent="0" marL="0">
              <a:lnSpc>
                <a:spcPct val="120000"/>
              </a:lnSpc>
              <a:buNone/>
            </a:pPr>
            <a:r>
              <a:rPr lang="en-US" sz="1400" dirty="0">
                <a:solidFill>
                  <a:srgbClr val="2B2B33"/>
                </a:solidFill>
                <a:latin typeface="Calibri" pitchFamily="34" charset="0"/>
                <a:ea typeface="Calibri" pitchFamily="34" charset="-122"/>
                <a:cs typeface="Calibri" pitchFamily="34" charset="-120"/>
              </a:rPr>
              <a:t>In each transformer layer, every token computes a weighted combination of every other token's vector — "how much should I pay attention to you, given what I am?" Stack dozens of these layers and the model builds increasingly abstract representations.</a:t>
            </a:r>
            <a:endParaRPr lang="en-US" sz="1400" dirty="0"/>
          </a:p>
        </p:txBody>
      </p:sp>
      <p:sp>
        <p:nvSpPr>
          <p:cNvPr id="13" name="Shape 11"/>
          <p:cNvSpPr/>
          <p:nvPr/>
        </p:nvSpPr>
        <p:spPr>
          <a:xfrm>
            <a:off x="6094476" y="2560320"/>
            <a:ext cx="1000093" cy="726610"/>
          </a:xfrm>
          <a:prstGeom prst="line">
            <a:avLst/>
          </a:prstGeom>
          <a:noFill/>
          <a:ln w="12700">
            <a:solidFill>
              <a:srgbClr val="D8DCEE"/>
            </a:solidFill>
            <a:prstDash val="solid"/>
          </a:ln>
        </p:spPr>
      </p:sp>
      <p:sp>
        <p:nvSpPr>
          <p:cNvPr id="14" name="Shape 12"/>
          <p:cNvSpPr/>
          <p:nvPr/>
        </p:nvSpPr>
        <p:spPr>
          <a:xfrm>
            <a:off x="6094476" y="2560320"/>
            <a:ext cx="618091" cy="1902290"/>
          </a:xfrm>
          <a:prstGeom prst="line">
            <a:avLst/>
          </a:prstGeom>
          <a:noFill/>
          <a:ln w="12700">
            <a:solidFill>
              <a:srgbClr val="D8DCEE"/>
            </a:solidFill>
            <a:prstDash val="solid"/>
          </a:ln>
        </p:spPr>
      </p:sp>
      <p:sp>
        <p:nvSpPr>
          <p:cNvPr id="15" name="Shape 13"/>
          <p:cNvSpPr/>
          <p:nvPr/>
        </p:nvSpPr>
        <p:spPr>
          <a:xfrm>
            <a:off x="5476385" y="2560320"/>
            <a:ext cx="618091" cy="1902290"/>
          </a:xfrm>
          <a:prstGeom prst="line">
            <a:avLst/>
          </a:prstGeom>
          <a:noFill/>
          <a:ln w="12700">
            <a:solidFill>
              <a:srgbClr val="D8DCEE"/>
            </a:solidFill>
            <a:prstDash val="solid"/>
          </a:ln>
        </p:spPr>
      </p:sp>
      <p:sp>
        <p:nvSpPr>
          <p:cNvPr id="16" name="Shape 14"/>
          <p:cNvSpPr/>
          <p:nvPr/>
        </p:nvSpPr>
        <p:spPr>
          <a:xfrm>
            <a:off x="5094383" y="2560320"/>
            <a:ext cx="1000093" cy="726610"/>
          </a:xfrm>
          <a:prstGeom prst="line">
            <a:avLst/>
          </a:prstGeom>
          <a:noFill/>
          <a:ln w="12700">
            <a:solidFill>
              <a:srgbClr val="D8DCEE"/>
            </a:solidFill>
            <a:prstDash val="solid"/>
          </a:ln>
        </p:spPr>
      </p:sp>
      <p:sp>
        <p:nvSpPr>
          <p:cNvPr id="17" name="Shape 15"/>
          <p:cNvSpPr/>
          <p:nvPr/>
        </p:nvSpPr>
        <p:spPr>
          <a:xfrm flipV="1">
            <a:off x="6094476" y="2560320"/>
            <a:ext cx="1000093" cy="726610"/>
          </a:xfrm>
          <a:prstGeom prst="line">
            <a:avLst/>
          </a:prstGeom>
          <a:noFill/>
          <a:ln w="12700">
            <a:solidFill>
              <a:srgbClr val="D8DCEE"/>
            </a:solidFill>
            <a:prstDash val="solid"/>
          </a:ln>
        </p:spPr>
      </p:sp>
      <p:sp>
        <p:nvSpPr>
          <p:cNvPr id="18" name="Shape 16"/>
          <p:cNvSpPr/>
          <p:nvPr/>
        </p:nvSpPr>
        <p:spPr>
          <a:xfrm>
            <a:off x="6712567" y="3286930"/>
            <a:ext cx="382002" cy="1175680"/>
          </a:xfrm>
          <a:prstGeom prst="line">
            <a:avLst/>
          </a:prstGeom>
          <a:noFill/>
          <a:ln w="12700">
            <a:solidFill>
              <a:srgbClr val="D8DCEE"/>
            </a:solidFill>
            <a:prstDash val="solid"/>
          </a:ln>
        </p:spPr>
      </p:sp>
      <p:sp>
        <p:nvSpPr>
          <p:cNvPr id="19" name="Shape 17"/>
          <p:cNvSpPr/>
          <p:nvPr/>
        </p:nvSpPr>
        <p:spPr>
          <a:xfrm>
            <a:off x="5476385" y="3286930"/>
            <a:ext cx="1618184" cy="1175680"/>
          </a:xfrm>
          <a:prstGeom prst="line">
            <a:avLst/>
          </a:prstGeom>
          <a:noFill/>
          <a:ln w="12700">
            <a:solidFill>
              <a:srgbClr val="D8DCEE"/>
            </a:solidFill>
            <a:prstDash val="solid"/>
          </a:ln>
        </p:spPr>
      </p:sp>
      <p:sp>
        <p:nvSpPr>
          <p:cNvPr id="20" name="Shape 18"/>
          <p:cNvSpPr/>
          <p:nvPr/>
        </p:nvSpPr>
        <p:spPr>
          <a:xfrm>
            <a:off x="5094383" y="3286930"/>
            <a:ext cx="2000186" cy="9144"/>
          </a:xfrm>
          <a:prstGeom prst="line">
            <a:avLst/>
          </a:prstGeom>
          <a:noFill/>
          <a:ln w="12700">
            <a:solidFill>
              <a:srgbClr val="D8DCEE"/>
            </a:solidFill>
            <a:prstDash val="solid"/>
          </a:ln>
        </p:spPr>
      </p:sp>
      <p:sp>
        <p:nvSpPr>
          <p:cNvPr id="21" name="Shape 19"/>
          <p:cNvSpPr/>
          <p:nvPr/>
        </p:nvSpPr>
        <p:spPr>
          <a:xfrm flipV="1">
            <a:off x="6094476" y="2560320"/>
            <a:ext cx="618091" cy="1902290"/>
          </a:xfrm>
          <a:prstGeom prst="line">
            <a:avLst/>
          </a:prstGeom>
          <a:noFill/>
          <a:ln w="12700">
            <a:solidFill>
              <a:srgbClr val="D8DCEE"/>
            </a:solidFill>
            <a:prstDash val="solid"/>
          </a:ln>
        </p:spPr>
      </p:sp>
      <p:sp>
        <p:nvSpPr>
          <p:cNvPr id="22" name="Shape 20"/>
          <p:cNvSpPr/>
          <p:nvPr/>
        </p:nvSpPr>
        <p:spPr>
          <a:xfrm flipV="1">
            <a:off x="6712567" y="3286930"/>
            <a:ext cx="382002" cy="1175680"/>
          </a:xfrm>
          <a:prstGeom prst="line">
            <a:avLst/>
          </a:prstGeom>
          <a:noFill/>
          <a:ln w="12700">
            <a:solidFill>
              <a:srgbClr val="D8DCEE"/>
            </a:solidFill>
            <a:prstDash val="solid"/>
          </a:ln>
        </p:spPr>
      </p:sp>
      <p:sp>
        <p:nvSpPr>
          <p:cNvPr id="23" name="Shape 21"/>
          <p:cNvSpPr/>
          <p:nvPr/>
        </p:nvSpPr>
        <p:spPr>
          <a:xfrm>
            <a:off x="5476385" y="4462610"/>
            <a:ext cx="1236183" cy="9144"/>
          </a:xfrm>
          <a:prstGeom prst="line">
            <a:avLst/>
          </a:prstGeom>
          <a:noFill/>
          <a:ln w="12700">
            <a:solidFill>
              <a:srgbClr val="D8DCEE"/>
            </a:solidFill>
            <a:prstDash val="solid"/>
          </a:ln>
        </p:spPr>
      </p:sp>
      <p:sp>
        <p:nvSpPr>
          <p:cNvPr id="24" name="Shape 22"/>
          <p:cNvSpPr/>
          <p:nvPr/>
        </p:nvSpPr>
        <p:spPr>
          <a:xfrm flipV="1">
            <a:off x="5094383" y="3286930"/>
            <a:ext cx="1618184" cy="1175680"/>
          </a:xfrm>
          <a:prstGeom prst="line">
            <a:avLst/>
          </a:prstGeom>
          <a:noFill/>
          <a:ln w="12700">
            <a:solidFill>
              <a:srgbClr val="D8DCEE"/>
            </a:solidFill>
            <a:prstDash val="solid"/>
          </a:ln>
        </p:spPr>
      </p:sp>
      <p:sp>
        <p:nvSpPr>
          <p:cNvPr id="25" name="Shape 23"/>
          <p:cNvSpPr/>
          <p:nvPr/>
        </p:nvSpPr>
        <p:spPr>
          <a:xfrm flipV="1">
            <a:off x="5476385" y="2560320"/>
            <a:ext cx="618091" cy="1902290"/>
          </a:xfrm>
          <a:prstGeom prst="line">
            <a:avLst/>
          </a:prstGeom>
          <a:noFill/>
          <a:ln w="12700">
            <a:solidFill>
              <a:srgbClr val="D8DCEE"/>
            </a:solidFill>
            <a:prstDash val="solid"/>
          </a:ln>
        </p:spPr>
      </p:sp>
      <p:sp>
        <p:nvSpPr>
          <p:cNvPr id="26" name="Shape 24"/>
          <p:cNvSpPr/>
          <p:nvPr/>
        </p:nvSpPr>
        <p:spPr>
          <a:xfrm flipV="1">
            <a:off x="5476385" y="3286930"/>
            <a:ext cx="1618184" cy="1175680"/>
          </a:xfrm>
          <a:prstGeom prst="line">
            <a:avLst/>
          </a:prstGeom>
          <a:noFill/>
          <a:ln w="12700">
            <a:solidFill>
              <a:srgbClr val="D8DCEE"/>
            </a:solidFill>
            <a:prstDash val="solid"/>
          </a:ln>
        </p:spPr>
      </p:sp>
      <p:sp>
        <p:nvSpPr>
          <p:cNvPr id="27" name="Shape 25"/>
          <p:cNvSpPr/>
          <p:nvPr/>
        </p:nvSpPr>
        <p:spPr>
          <a:xfrm>
            <a:off x="5476385" y="4462610"/>
            <a:ext cx="1236183" cy="9144"/>
          </a:xfrm>
          <a:prstGeom prst="line">
            <a:avLst/>
          </a:prstGeom>
          <a:noFill/>
          <a:ln w="12700">
            <a:solidFill>
              <a:srgbClr val="D8DCEE"/>
            </a:solidFill>
            <a:prstDash val="solid"/>
          </a:ln>
        </p:spPr>
      </p:sp>
      <p:sp>
        <p:nvSpPr>
          <p:cNvPr id="28" name="Shape 26"/>
          <p:cNvSpPr/>
          <p:nvPr/>
        </p:nvSpPr>
        <p:spPr>
          <a:xfrm flipV="1">
            <a:off x="5094383" y="3286930"/>
            <a:ext cx="382002" cy="1175680"/>
          </a:xfrm>
          <a:prstGeom prst="line">
            <a:avLst/>
          </a:prstGeom>
          <a:noFill/>
          <a:ln w="12700">
            <a:solidFill>
              <a:srgbClr val="D8DCEE"/>
            </a:solidFill>
            <a:prstDash val="solid"/>
          </a:ln>
        </p:spPr>
      </p:sp>
      <p:sp>
        <p:nvSpPr>
          <p:cNvPr id="29" name="Shape 27"/>
          <p:cNvSpPr/>
          <p:nvPr/>
        </p:nvSpPr>
        <p:spPr>
          <a:xfrm flipV="1">
            <a:off x="5094383" y="2560320"/>
            <a:ext cx="1000093" cy="726610"/>
          </a:xfrm>
          <a:prstGeom prst="line">
            <a:avLst/>
          </a:prstGeom>
          <a:noFill/>
          <a:ln w="12700">
            <a:solidFill>
              <a:srgbClr val="D8DCEE"/>
            </a:solidFill>
            <a:prstDash val="solid"/>
          </a:ln>
        </p:spPr>
      </p:sp>
      <p:sp>
        <p:nvSpPr>
          <p:cNvPr id="30" name="Shape 28"/>
          <p:cNvSpPr/>
          <p:nvPr/>
        </p:nvSpPr>
        <p:spPr>
          <a:xfrm>
            <a:off x="5094383" y="3286930"/>
            <a:ext cx="2000186" cy="9144"/>
          </a:xfrm>
          <a:prstGeom prst="line">
            <a:avLst/>
          </a:prstGeom>
          <a:noFill/>
          <a:ln w="12700">
            <a:solidFill>
              <a:srgbClr val="D8DCEE"/>
            </a:solidFill>
            <a:prstDash val="solid"/>
          </a:ln>
        </p:spPr>
      </p:sp>
      <p:sp>
        <p:nvSpPr>
          <p:cNvPr id="31" name="Shape 29"/>
          <p:cNvSpPr/>
          <p:nvPr/>
        </p:nvSpPr>
        <p:spPr>
          <a:xfrm>
            <a:off x="5094383" y="3286930"/>
            <a:ext cx="1618184" cy="1175680"/>
          </a:xfrm>
          <a:prstGeom prst="line">
            <a:avLst/>
          </a:prstGeom>
          <a:noFill/>
          <a:ln w="12700">
            <a:solidFill>
              <a:srgbClr val="D8DCEE"/>
            </a:solidFill>
            <a:prstDash val="solid"/>
          </a:ln>
        </p:spPr>
      </p:sp>
      <p:sp>
        <p:nvSpPr>
          <p:cNvPr id="32" name="Shape 30"/>
          <p:cNvSpPr/>
          <p:nvPr/>
        </p:nvSpPr>
        <p:spPr>
          <a:xfrm>
            <a:off x="5094383" y="3286930"/>
            <a:ext cx="382002" cy="1175680"/>
          </a:xfrm>
          <a:prstGeom prst="line">
            <a:avLst/>
          </a:prstGeom>
          <a:noFill/>
          <a:ln w="12700">
            <a:solidFill>
              <a:srgbClr val="D8DCEE"/>
            </a:solidFill>
            <a:prstDash val="solid"/>
          </a:ln>
        </p:spPr>
      </p:sp>
      <p:sp>
        <p:nvSpPr>
          <p:cNvPr id="33" name="Shape 31"/>
          <p:cNvSpPr/>
          <p:nvPr/>
        </p:nvSpPr>
        <p:spPr>
          <a:xfrm>
            <a:off x="5838444" y="2304288"/>
            <a:ext cx="512064" cy="512064"/>
          </a:xfrm>
          <a:prstGeom prst="ellipse">
            <a:avLst/>
          </a:prstGeom>
          <a:solidFill>
            <a:srgbClr val="1E2761"/>
          </a:solidFill>
          <a:ln w="25400">
            <a:solidFill>
              <a:srgbClr val="FFFFFF"/>
            </a:solidFill>
            <a:prstDash val="solid"/>
          </a:ln>
        </p:spPr>
      </p:sp>
      <p:sp>
        <p:nvSpPr>
          <p:cNvPr id="34" name="Text 32"/>
          <p:cNvSpPr txBox="1"/>
          <p:nvPr/>
        </p:nvSpPr>
        <p:spPr>
          <a:xfrm>
            <a:off x="5838444" y="2304288"/>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a:t>
            </a:r>
            <a:endParaRPr lang="en-US" sz="1000" dirty="0"/>
          </a:p>
        </p:txBody>
      </p:sp>
      <p:sp>
        <p:nvSpPr>
          <p:cNvPr id="35" name="Shape 33"/>
          <p:cNvSpPr/>
          <p:nvPr/>
        </p:nvSpPr>
        <p:spPr>
          <a:xfrm>
            <a:off x="6838537" y="3030898"/>
            <a:ext cx="512064" cy="512064"/>
          </a:xfrm>
          <a:prstGeom prst="ellipse">
            <a:avLst/>
          </a:prstGeom>
          <a:solidFill>
            <a:srgbClr val="1E2761"/>
          </a:solidFill>
          <a:ln w="25400">
            <a:solidFill>
              <a:srgbClr val="FFFFFF"/>
            </a:solidFill>
            <a:prstDash val="solid"/>
          </a:ln>
        </p:spPr>
      </p:sp>
      <p:sp>
        <p:nvSpPr>
          <p:cNvPr id="36" name="Text 34"/>
          <p:cNvSpPr txBox="1"/>
          <p:nvPr/>
        </p:nvSpPr>
        <p:spPr>
          <a:xfrm>
            <a:off x="6838537" y="3030898"/>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a:t>
            </a:r>
            <a:endParaRPr lang="en-US" sz="1000" dirty="0"/>
          </a:p>
        </p:txBody>
      </p:sp>
      <p:sp>
        <p:nvSpPr>
          <p:cNvPr id="37" name="Shape 35"/>
          <p:cNvSpPr/>
          <p:nvPr/>
        </p:nvSpPr>
        <p:spPr>
          <a:xfrm>
            <a:off x="6456535" y="4206578"/>
            <a:ext cx="512064" cy="512064"/>
          </a:xfrm>
          <a:prstGeom prst="ellipse">
            <a:avLst/>
          </a:prstGeom>
          <a:solidFill>
            <a:srgbClr val="1E2761"/>
          </a:solidFill>
          <a:ln w="25400">
            <a:solidFill>
              <a:srgbClr val="FFFFFF"/>
            </a:solidFill>
            <a:prstDash val="solid"/>
          </a:ln>
        </p:spPr>
      </p:sp>
      <p:sp>
        <p:nvSpPr>
          <p:cNvPr id="38" name="Text 36"/>
          <p:cNvSpPr txBox="1"/>
          <p:nvPr/>
        </p:nvSpPr>
        <p:spPr>
          <a:xfrm>
            <a:off x="6456535" y="4206578"/>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sat</a:t>
            </a:r>
            <a:endParaRPr lang="en-US" sz="1000" dirty="0"/>
          </a:p>
        </p:txBody>
      </p:sp>
      <p:sp>
        <p:nvSpPr>
          <p:cNvPr id="39" name="Shape 37"/>
          <p:cNvSpPr/>
          <p:nvPr/>
        </p:nvSpPr>
        <p:spPr>
          <a:xfrm>
            <a:off x="5220353" y="4206578"/>
            <a:ext cx="512064" cy="512064"/>
          </a:xfrm>
          <a:prstGeom prst="ellipse">
            <a:avLst/>
          </a:prstGeom>
          <a:solidFill>
            <a:srgbClr val="1E2761"/>
          </a:solidFill>
          <a:ln w="25400">
            <a:solidFill>
              <a:srgbClr val="FFFFFF"/>
            </a:solidFill>
            <a:prstDash val="solid"/>
          </a:ln>
        </p:spPr>
      </p:sp>
      <p:sp>
        <p:nvSpPr>
          <p:cNvPr id="40" name="Text 38"/>
          <p:cNvSpPr txBox="1"/>
          <p:nvPr/>
        </p:nvSpPr>
        <p:spPr>
          <a:xfrm>
            <a:off x="5220353" y="4206578"/>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on</a:t>
            </a:r>
            <a:endParaRPr lang="en-US" sz="1000" dirty="0"/>
          </a:p>
        </p:txBody>
      </p:sp>
      <p:sp>
        <p:nvSpPr>
          <p:cNvPr id="41" name="Shape 39"/>
          <p:cNvSpPr/>
          <p:nvPr/>
        </p:nvSpPr>
        <p:spPr>
          <a:xfrm>
            <a:off x="4838351" y="3030898"/>
            <a:ext cx="512064" cy="512064"/>
          </a:xfrm>
          <a:prstGeom prst="ellipse">
            <a:avLst/>
          </a:prstGeom>
          <a:solidFill>
            <a:srgbClr val="1E2761"/>
          </a:solidFill>
          <a:ln w="25400">
            <a:solidFill>
              <a:srgbClr val="FFFFFF"/>
            </a:solidFill>
            <a:prstDash val="solid"/>
          </a:ln>
        </p:spPr>
      </p:sp>
      <p:sp>
        <p:nvSpPr>
          <p:cNvPr id="42" name="Text 40"/>
          <p:cNvSpPr txBox="1"/>
          <p:nvPr/>
        </p:nvSpPr>
        <p:spPr>
          <a:xfrm>
            <a:off x="4838351" y="3030898"/>
            <a:ext cx="512064"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a:t>
            </a:r>
            <a:endParaRPr lang="en-US" sz="1000" dirty="0"/>
          </a:p>
        </p:txBody>
      </p:sp>
      <p:sp>
        <p:nvSpPr>
          <p:cNvPr id="43" name="Shape 41"/>
          <p:cNvSpPr/>
          <p:nvPr/>
        </p:nvSpPr>
        <p:spPr>
          <a:xfrm>
            <a:off x="548640" y="5029200"/>
            <a:ext cx="11091672" cy="1417320"/>
          </a:xfrm>
          <a:prstGeom prst="roundRect">
            <a:avLst>
              <a:gd name="adj" fmla="val 6452"/>
            </a:avLst>
          </a:prstGeom>
          <a:solidFill>
            <a:srgbClr val="FBF3DF"/>
          </a:solidFill>
          <a:ln w="12700">
            <a:solidFill>
              <a:srgbClr val="C99A2E"/>
            </a:solidFill>
            <a:prstDash val="solid"/>
          </a:ln>
        </p:spPr>
      </p:sp>
      <p:sp>
        <p:nvSpPr>
          <p:cNvPr id="44" name="Text 42"/>
          <p:cNvSpPr txBox="1"/>
          <p:nvPr/>
        </p:nvSpPr>
        <p:spPr>
          <a:xfrm>
            <a:off x="822960" y="5120640"/>
            <a:ext cx="10543032" cy="1234440"/>
          </a:xfrm>
          <a:prstGeom prst="rect">
            <a:avLst/>
          </a:prstGeom>
          <a:noFill/>
          <a:ln/>
        </p:spPr>
        <p:txBody>
          <a:bodyPr wrap="square" lIns="0" tIns="0" rIns="0" bIns="0" rtlCol="0" anchor="ctr"/>
          <a:lstStyle/>
          <a:p>
            <a:pPr indent="0" marL="0">
              <a:lnSpc>
                <a:spcPct val="120000"/>
              </a:lnSpc>
              <a:buNone/>
            </a:pPr>
            <a:r>
              <a:rPr lang="en-US" sz="1100" b="1" dirty="0">
                <a:solidFill>
                  <a:srgbClr val="C99A2E"/>
                </a:solidFill>
                <a:latin typeface="Calibri" pitchFamily="34" charset="0"/>
                <a:ea typeface="Calibri" pitchFamily="34" charset="-122"/>
                <a:cs typeface="Calibri" pitchFamily="34" charset="-120"/>
              </a:rPr>
              <a:t>COURSE CONNECTION   </a:t>
            </a:r>
            <a:endParaRPr lang="en-US" sz="1100" dirty="0"/>
          </a:p>
          <a:p>
            <a:pPr indent="0" marL="0">
              <a:lnSpc>
                <a:spcPct val="120000"/>
              </a:lnSpc>
              <a:buNone/>
            </a:pPr>
            <a:r>
              <a:rPr lang="en-US" sz="1350" i="1" dirty="0">
                <a:solidFill>
                  <a:srgbClr val="5C4A0A"/>
                </a:solidFill>
                <a:latin typeface="Calibri" pitchFamily="34" charset="0"/>
                <a:ea typeface="Calibri" pitchFamily="34" charset="-122"/>
                <a:cs typeface="Calibri" pitchFamily="34" charset="-120"/>
              </a:rPr>
              <a:t>This is the mechanism whose computational power the theory community measures directly: a single attention layer, applied a fixed number of times, is provably confined to the circuit-complexity class uniform-TC⁰ (Merrill &amp; Sabharwal, 2023) — a precise, non-hand-wavy limit you'll derive in Week 16. Whether transformers are Turing-complete at all is itself a Week 17 question (Pérez et al., 2019).</a:t>
            </a:r>
            <a:endParaRPr lang="en-US" sz="1100" dirty="0"/>
          </a:p>
        </p:txBody>
      </p:sp>
      <p:sp>
        <p:nvSpPr>
          <p:cNvPr id="45" name="Text 43"/>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9"/>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THE FORWARD PASS — STEP 4</a:t>
            </a:r>
            <a:endParaRPr lang="en-US" sz="1300" dirty="0"/>
          </a:p>
        </p:txBody>
      </p:sp>
      <p:sp>
        <p:nvSpPr>
          <p:cNvPr id="3" name="Shape 1"/>
          <p:cNvSpPr/>
          <p:nvPr/>
        </p:nvSpPr>
        <p:spPr>
          <a:xfrm>
            <a:off x="3364992" y="201168"/>
            <a:ext cx="1828800" cy="310896"/>
          </a:xfrm>
          <a:prstGeom prst="roundRect">
            <a:avLst>
              <a:gd name="adj" fmla="val 50000"/>
            </a:avLst>
          </a:prstGeom>
          <a:solidFill>
            <a:srgbClr val="E4E7F2"/>
          </a:solidFill>
          <a:ln/>
        </p:spPr>
      </p:sp>
      <p:sp>
        <p:nvSpPr>
          <p:cNvPr id="4" name="Text 2"/>
          <p:cNvSpPr txBox="1"/>
          <p:nvPr/>
        </p:nvSpPr>
        <p:spPr>
          <a:xfrm>
            <a:off x="336499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1. Tokenize</a:t>
            </a:r>
            <a:endParaRPr lang="en-US" sz="1050" dirty="0"/>
          </a:p>
        </p:txBody>
      </p:sp>
      <p:sp>
        <p:nvSpPr>
          <p:cNvPr id="5" name="Shape 3"/>
          <p:cNvSpPr/>
          <p:nvPr/>
        </p:nvSpPr>
        <p:spPr>
          <a:xfrm>
            <a:off x="5513832" y="201168"/>
            <a:ext cx="1828800" cy="310896"/>
          </a:xfrm>
          <a:prstGeom prst="roundRect">
            <a:avLst>
              <a:gd name="adj" fmla="val 50000"/>
            </a:avLst>
          </a:prstGeom>
          <a:solidFill>
            <a:srgbClr val="E4E7F2"/>
          </a:solidFill>
          <a:ln/>
        </p:spPr>
      </p:sp>
      <p:sp>
        <p:nvSpPr>
          <p:cNvPr id="6" name="Text 4"/>
          <p:cNvSpPr txBox="1"/>
          <p:nvPr/>
        </p:nvSpPr>
        <p:spPr>
          <a:xfrm>
            <a:off x="551383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2. Embed</a:t>
            </a:r>
            <a:endParaRPr lang="en-US" sz="1050" dirty="0"/>
          </a:p>
        </p:txBody>
      </p:sp>
      <p:sp>
        <p:nvSpPr>
          <p:cNvPr id="7" name="Shape 5"/>
          <p:cNvSpPr/>
          <p:nvPr/>
        </p:nvSpPr>
        <p:spPr>
          <a:xfrm>
            <a:off x="7662672" y="201168"/>
            <a:ext cx="1828800" cy="310896"/>
          </a:xfrm>
          <a:prstGeom prst="roundRect">
            <a:avLst>
              <a:gd name="adj" fmla="val 50000"/>
            </a:avLst>
          </a:prstGeom>
          <a:solidFill>
            <a:srgbClr val="E4E7F2"/>
          </a:solidFill>
          <a:ln/>
        </p:spPr>
      </p:sp>
      <p:sp>
        <p:nvSpPr>
          <p:cNvPr id="8" name="Text 6"/>
          <p:cNvSpPr txBox="1"/>
          <p:nvPr/>
        </p:nvSpPr>
        <p:spPr>
          <a:xfrm>
            <a:off x="7662672" y="201168"/>
            <a:ext cx="1828800" cy="310896"/>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3. Attend</a:t>
            </a:r>
            <a:endParaRPr lang="en-US" sz="1050" dirty="0"/>
          </a:p>
        </p:txBody>
      </p:sp>
      <p:sp>
        <p:nvSpPr>
          <p:cNvPr id="9" name="Shape 7"/>
          <p:cNvSpPr/>
          <p:nvPr/>
        </p:nvSpPr>
        <p:spPr>
          <a:xfrm>
            <a:off x="9811512" y="201168"/>
            <a:ext cx="1828800" cy="310896"/>
          </a:xfrm>
          <a:prstGeom prst="roundRect">
            <a:avLst>
              <a:gd name="adj" fmla="val 50000"/>
            </a:avLst>
          </a:prstGeom>
          <a:solidFill>
            <a:srgbClr val="C99A2E"/>
          </a:solidFill>
          <a:ln/>
        </p:spPr>
      </p:sp>
      <p:sp>
        <p:nvSpPr>
          <p:cNvPr id="10" name="Text 8"/>
          <p:cNvSpPr txBox="1"/>
          <p:nvPr/>
        </p:nvSpPr>
        <p:spPr>
          <a:xfrm>
            <a:off x="9811512" y="201168"/>
            <a:ext cx="18288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Predict</a:t>
            </a:r>
            <a:endParaRPr lang="en-US" sz="1050" dirty="0"/>
          </a:p>
        </p:txBody>
      </p:sp>
      <p:sp>
        <p:nvSpPr>
          <p:cNvPr id="11" name="Text 9"/>
          <p:cNvSpPr txBox="1"/>
          <p:nvPr/>
        </p:nvSpPr>
        <p:spPr>
          <a:xfrm>
            <a:off x="548640" y="1371600"/>
            <a:ext cx="11091672"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Predicting the next token</a:t>
            </a:r>
            <a:endParaRPr lang="en-US" sz="3000" dirty="0"/>
          </a:p>
        </p:txBody>
      </p:sp>
      <p:sp>
        <p:nvSpPr>
          <p:cNvPr id="12" name="Text 10"/>
          <p:cNvSpPr txBox="1"/>
          <p:nvPr/>
        </p:nvSpPr>
        <p:spPr>
          <a:xfrm>
            <a:off x="548640" y="2194560"/>
            <a:ext cx="11091672" cy="1005840"/>
          </a:xfrm>
          <a:prstGeom prst="rect">
            <a:avLst/>
          </a:prstGeom>
          <a:noFill/>
          <a:ln/>
        </p:spPr>
        <p:txBody>
          <a:bodyPr wrap="square" lIns="0" tIns="0" rIns="0" bIns="0"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After all the transformer layers, the model outputs one probability for every token in the vocabulary — a probability distribution over Σ. The next token is sampled (or picked greedily) from that distribution, appended to the string, and the whole pass runs again.</a:t>
            </a:r>
            <a:endParaRPr lang="en-US" sz="1600" dirty="0"/>
          </a:p>
        </p:txBody>
      </p:sp>
      <p:sp>
        <p:nvSpPr>
          <p:cNvPr id="13" name="Text 11"/>
          <p:cNvSpPr txBox="1"/>
          <p:nvPr/>
        </p:nvSpPr>
        <p:spPr>
          <a:xfrm>
            <a:off x="548640" y="3520440"/>
            <a:ext cx="914400" cy="45720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the</a:t>
            </a:r>
            <a:endParaRPr lang="en-US" sz="1300" dirty="0"/>
          </a:p>
        </p:txBody>
      </p:sp>
      <p:sp>
        <p:nvSpPr>
          <p:cNvPr id="14" name="Shape 12"/>
          <p:cNvSpPr/>
          <p:nvPr/>
        </p:nvSpPr>
        <p:spPr>
          <a:xfrm>
            <a:off x="1554480" y="3575304"/>
            <a:ext cx="5943600" cy="347472"/>
          </a:xfrm>
          <a:prstGeom prst="roundRect">
            <a:avLst>
              <a:gd name="adj" fmla="val 13158"/>
            </a:avLst>
          </a:prstGeom>
          <a:solidFill>
            <a:srgbClr val="C99A2E"/>
          </a:solidFill>
          <a:ln/>
        </p:spPr>
      </p:sp>
      <p:sp>
        <p:nvSpPr>
          <p:cNvPr id="15" name="Text 13"/>
          <p:cNvSpPr txBox="1"/>
          <p:nvPr/>
        </p:nvSpPr>
        <p:spPr>
          <a:xfrm>
            <a:off x="7680960" y="3520440"/>
            <a:ext cx="914400" cy="457200"/>
          </a:xfrm>
          <a:prstGeom prst="rect">
            <a:avLst/>
          </a:prstGeom>
          <a:noFill/>
          <a:ln/>
        </p:spPr>
        <p:txBody>
          <a:bodyPr wrap="square" lIns="0" tIns="0" rIns="0" bIns="0" rtlCol="0" anchor="ctr"/>
          <a:lstStyle/>
          <a:p>
            <a:pPr indent="0" marL="0">
              <a:buNone/>
            </a:pPr>
            <a:r>
              <a:rPr lang="en-US" sz="1200" dirty="0">
                <a:solidFill>
                  <a:srgbClr val="9AA5D6"/>
                </a:solidFill>
                <a:latin typeface="Calibri" pitchFamily="34" charset="0"/>
                <a:ea typeface="Calibri" pitchFamily="34" charset="-122"/>
                <a:cs typeface="Calibri" pitchFamily="34" charset="-120"/>
              </a:rPr>
              <a:t>42%</a:t>
            </a:r>
            <a:endParaRPr lang="en-US" sz="1200" dirty="0"/>
          </a:p>
        </p:txBody>
      </p:sp>
      <p:sp>
        <p:nvSpPr>
          <p:cNvPr id="16" name="Text 14"/>
          <p:cNvSpPr txBox="1"/>
          <p:nvPr/>
        </p:nvSpPr>
        <p:spPr>
          <a:xfrm>
            <a:off x="548640" y="4087368"/>
            <a:ext cx="914400" cy="45720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a</a:t>
            </a:r>
            <a:endParaRPr lang="en-US" sz="1300" dirty="0"/>
          </a:p>
        </p:txBody>
      </p:sp>
      <p:sp>
        <p:nvSpPr>
          <p:cNvPr id="17" name="Shape 15"/>
          <p:cNvSpPr/>
          <p:nvPr/>
        </p:nvSpPr>
        <p:spPr>
          <a:xfrm>
            <a:off x="1554480" y="4142232"/>
            <a:ext cx="4386943" cy="347472"/>
          </a:xfrm>
          <a:prstGeom prst="roundRect">
            <a:avLst>
              <a:gd name="adj" fmla="val 13158"/>
            </a:avLst>
          </a:prstGeom>
          <a:solidFill>
            <a:srgbClr val="3A4694"/>
          </a:solidFill>
          <a:ln/>
        </p:spPr>
      </p:sp>
      <p:sp>
        <p:nvSpPr>
          <p:cNvPr id="18" name="Text 16"/>
          <p:cNvSpPr txBox="1"/>
          <p:nvPr/>
        </p:nvSpPr>
        <p:spPr>
          <a:xfrm>
            <a:off x="6124303" y="4087368"/>
            <a:ext cx="914400" cy="457200"/>
          </a:xfrm>
          <a:prstGeom prst="rect">
            <a:avLst/>
          </a:prstGeom>
          <a:noFill/>
          <a:ln/>
        </p:spPr>
        <p:txBody>
          <a:bodyPr wrap="square" lIns="0" tIns="0" rIns="0" bIns="0" rtlCol="0" anchor="ctr"/>
          <a:lstStyle/>
          <a:p>
            <a:pPr indent="0" marL="0">
              <a:buNone/>
            </a:pPr>
            <a:r>
              <a:rPr lang="en-US" sz="1200" dirty="0">
                <a:solidFill>
                  <a:srgbClr val="9AA5D6"/>
                </a:solidFill>
                <a:latin typeface="Calibri" pitchFamily="34" charset="0"/>
                <a:ea typeface="Calibri" pitchFamily="34" charset="-122"/>
                <a:cs typeface="Calibri" pitchFamily="34" charset="-120"/>
              </a:rPr>
              <a:t>31%</a:t>
            </a:r>
            <a:endParaRPr lang="en-US" sz="1200" dirty="0"/>
          </a:p>
        </p:txBody>
      </p:sp>
      <p:sp>
        <p:nvSpPr>
          <p:cNvPr id="19" name="Text 17"/>
          <p:cNvSpPr txBox="1"/>
          <p:nvPr/>
        </p:nvSpPr>
        <p:spPr>
          <a:xfrm>
            <a:off x="548640" y="4654296"/>
            <a:ext cx="914400" cy="45720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some</a:t>
            </a:r>
            <a:endParaRPr lang="en-US" sz="1300" dirty="0"/>
          </a:p>
        </p:txBody>
      </p:sp>
      <p:sp>
        <p:nvSpPr>
          <p:cNvPr id="20" name="Shape 18"/>
          <p:cNvSpPr/>
          <p:nvPr/>
        </p:nvSpPr>
        <p:spPr>
          <a:xfrm>
            <a:off x="1554480" y="4709160"/>
            <a:ext cx="1698171" cy="347472"/>
          </a:xfrm>
          <a:prstGeom prst="roundRect">
            <a:avLst>
              <a:gd name="adj" fmla="val 13158"/>
            </a:avLst>
          </a:prstGeom>
          <a:solidFill>
            <a:srgbClr val="3A4694"/>
          </a:solidFill>
          <a:ln/>
        </p:spPr>
      </p:sp>
      <p:sp>
        <p:nvSpPr>
          <p:cNvPr id="21" name="Text 19"/>
          <p:cNvSpPr txBox="1"/>
          <p:nvPr/>
        </p:nvSpPr>
        <p:spPr>
          <a:xfrm>
            <a:off x="3435531" y="4654296"/>
            <a:ext cx="914400" cy="457200"/>
          </a:xfrm>
          <a:prstGeom prst="rect">
            <a:avLst/>
          </a:prstGeom>
          <a:noFill/>
          <a:ln/>
        </p:spPr>
        <p:txBody>
          <a:bodyPr wrap="square" lIns="0" tIns="0" rIns="0" bIns="0" rtlCol="0" anchor="ctr"/>
          <a:lstStyle/>
          <a:p>
            <a:pPr indent="0" marL="0">
              <a:buNone/>
            </a:pPr>
            <a:r>
              <a:rPr lang="en-US" sz="1200" dirty="0">
                <a:solidFill>
                  <a:srgbClr val="9AA5D6"/>
                </a:solidFill>
                <a:latin typeface="Calibri" pitchFamily="34" charset="0"/>
                <a:ea typeface="Calibri" pitchFamily="34" charset="-122"/>
                <a:cs typeface="Calibri" pitchFamily="34" charset="-120"/>
              </a:rPr>
              <a:t>12%</a:t>
            </a:r>
            <a:endParaRPr lang="en-US" sz="1200" dirty="0"/>
          </a:p>
        </p:txBody>
      </p:sp>
      <p:sp>
        <p:nvSpPr>
          <p:cNvPr id="22" name="Text 20"/>
          <p:cNvSpPr txBox="1"/>
          <p:nvPr/>
        </p:nvSpPr>
        <p:spPr>
          <a:xfrm>
            <a:off x="548640" y="5221224"/>
            <a:ext cx="914400" cy="45720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that</a:t>
            </a:r>
            <a:endParaRPr lang="en-US" sz="1300" dirty="0"/>
          </a:p>
        </p:txBody>
      </p:sp>
      <p:sp>
        <p:nvSpPr>
          <p:cNvPr id="23" name="Shape 21"/>
          <p:cNvSpPr/>
          <p:nvPr/>
        </p:nvSpPr>
        <p:spPr>
          <a:xfrm>
            <a:off x="1554480" y="5276088"/>
            <a:ext cx="1273629" cy="347472"/>
          </a:xfrm>
          <a:prstGeom prst="roundRect">
            <a:avLst>
              <a:gd name="adj" fmla="val 13158"/>
            </a:avLst>
          </a:prstGeom>
          <a:solidFill>
            <a:srgbClr val="3A4694"/>
          </a:solidFill>
          <a:ln/>
        </p:spPr>
      </p:sp>
      <p:sp>
        <p:nvSpPr>
          <p:cNvPr id="24" name="Text 22"/>
          <p:cNvSpPr txBox="1"/>
          <p:nvPr/>
        </p:nvSpPr>
        <p:spPr>
          <a:xfrm>
            <a:off x="3010989" y="5221224"/>
            <a:ext cx="914400" cy="457200"/>
          </a:xfrm>
          <a:prstGeom prst="rect">
            <a:avLst/>
          </a:prstGeom>
          <a:noFill/>
          <a:ln/>
        </p:spPr>
        <p:txBody>
          <a:bodyPr wrap="square" lIns="0" tIns="0" rIns="0" bIns="0" rtlCol="0" anchor="ctr"/>
          <a:lstStyle/>
          <a:p>
            <a:pPr indent="0" marL="0">
              <a:buNone/>
            </a:pPr>
            <a:r>
              <a:rPr lang="en-US" sz="1200" dirty="0">
                <a:solidFill>
                  <a:srgbClr val="9AA5D6"/>
                </a:solidFill>
                <a:latin typeface="Calibri" pitchFamily="34" charset="0"/>
                <a:ea typeface="Calibri" pitchFamily="34" charset="-122"/>
                <a:cs typeface="Calibri" pitchFamily="34" charset="-120"/>
              </a:rPr>
              <a:t>9%</a:t>
            </a:r>
            <a:endParaRPr lang="en-US" sz="1200" dirty="0"/>
          </a:p>
        </p:txBody>
      </p:sp>
      <p:sp>
        <p:nvSpPr>
          <p:cNvPr id="25" name="Text 23"/>
          <p:cNvSpPr txBox="1"/>
          <p:nvPr/>
        </p:nvSpPr>
        <p:spPr>
          <a:xfrm>
            <a:off x="548640" y="5788152"/>
            <a:ext cx="914400" cy="45720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26" name="Shape 24"/>
          <p:cNvSpPr/>
          <p:nvPr/>
        </p:nvSpPr>
        <p:spPr>
          <a:xfrm>
            <a:off x="1554480" y="5843016"/>
            <a:ext cx="849086" cy="347472"/>
          </a:xfrm>
          <a:prstGeom prst="roundRect">
            <a:avLst>
              <a:gd name="adj" fmla="val 13158"/>
            </a:avLst>
          </a:prstGeom>
          <a:solidFill>
            <a:srgbClr val="3A4694"/>
          </a:solidFill>
          <a:ln/>
        </p:spPr>
      </p:sp>
      <p:sp>
        <p:nvSpPr>
          <p:cNvPr id="27" name="Text 25"/>
          <p:cNvSpPr txBox="1"/>
          <p:nvPr/>
        </p:nvSpPr>
        <p:spPr>
          <a:xfrm>
            <a:off x="2586446" y="5788152"/>
            <a:ext cx="914400" cy="457200"/>
          </a:xfrm>
          <a:prstGeom prst="rect">
            <a:avLst/>
          </a:prstGeom>
          <a:noFill/>
          <a:ln/>
        </p:spPr>
        <p:txBody>
          <a:bodyPr wrap="square" lIns="0" tIns="0" rIns="0" bIns="0" rtlCol="0" anchor="ctr"/>
          <a:lstStyle/>
          <a:p>
            <a:pPr indent="0" marL="0">
              <a:buNone/>
            </a:pPr>
            <a:r>
              <a:rPr lang="en-US" sz="1200" dirty="0">
                <a:solidFill>
                  <a:srgbClr val="9AA5D6"/>
                </a:solidFill>
                <a:latin typeface="Calibri" pitchFamily="34" charset="0"/>
                <a:ea typeface="Calibri" pitchFamily="34" charset="-122"/>
                <a:cs typeface="Calibri" pitchFamily="34" charset="-120"/>
              </a:rPr>
              <a:t>6%</a:t>
            </a:r>
            <a:endParaRPr lang="en-US" sz="1200" dirty="0"/>
          </a:p>
        </p:txBody>
      </p:sp>
      <p:sp>
        <p:nvSpPr>
          <p:cNvPr id="28" name="Text 26"/>
          <p:cNvSpPr txBox="1"/>
          <p:nvPr/>
        </p:nvSpPr>
        <p:spPr>
          <a:xfrm>
            <a:off x="7863840" y="3520440"/>
            <a:ext cx="3749040" cy="2286000"/>
          </a:xfrm>
          <a:prstGeom prst="rect">
            <a:avLst/>
          </a:prstGeom>
          <a:noFill/>
          <a:ln/>
        </p:spPr>
        <p:txBody>
          <a:bodyPr wrap="square" lIns="0" tIns="0" rIns="0" bIns="0" rtlCol="0" anchor="ctr"/>
          <a:lstStyle/>
          <a:p>
            <a:pPr indent="0" marL="0">
              <a:lnSpc>
                <a:spcPct val="130000"/>
              </a:lnSpc>
              <a:buNone/>
            </a:pPr>
            <a:r>
              <a:rPr lang="en-US" sz="1350" i="1" dirty="0">
                <a:solidFill>
                  <a:srgbClr val="CADCFC"/>
                </a:solidFill>
                <a:latin typeface="Calibri" pitchFamily="34" charset="0"/>
                <a:ea typeface="Calibri" pitchFamily="34" charset="-122"/>
                <a:cs typeface="Calibri" pitchFamily="34" charset="-120"/>
              </a:rPr>
              <a:t>Generating a string of length n means running this whole 4-step pipeline n times — building one element of Σ* at a time, exactly as Week 1 defined it.</a:t>
            </a:r>
            <a:endParaRPr lang="en-US" sz="1350" dirty="0"/>
          </a:p>
        </p:txBody>
      </p:sp>
      <p:sp>
        <p:nvSpPr>
          <p:cNvPr id="29" name="Text 27"/>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BEYOND THE FORWARD PASS</a:t>
            </a:r>
            <a:endParaRPr lang="en-US" sz="13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How training works</a:t>
            </a:r>
            <a:endParaRPr lang="en-US" sz="3200" dirty="0"/>
          </a:p>
        </p:txBody>
      </p:sp>
      <p:sp>
        <p:nvSpPr>
          <p:cNvPr id="4" name="Text 2"/>
          <p:cNvSpPr txBox="1"/>
          <p:nvPr/>
        </p:nvSpPr>
        <p:spPr>
          <a:xfrm>
            <a:off x="548640" y="1554480"/>
            <a:ext cx="11091672" cy="1371600"/>
          </a:xfrm>
          <a:prstGeom prst="rect">
            <a:avLst/>
          </a:prstGeom>
          <a:noFill/>
          <a:ln/>
        </p:spPr>
        <p:txBody>
          <a:bodyPr wrap="square" lIns="0" tIns="0" rIns="0" bIns="0" rtlCol="0" anchor="ctr"/>
          <a:lstStyle/>
          <a:p>
            <a:pPr indent="0" marL="0">
              <a:lnSpc>
                <a:spcPct val="130000"/>
              </a:lnSpc>
              <a:buNone/>
            </a:pPr>
            <a:r>
              <a:rPr lang="en-US" sz="1550" dirty="0">
                <a:solidFill>
                  <a:srgbClr val="2B2B33"/>
                </a:solidFill>
                <a:latin typeface="Calibri" pitchFamily="34" charset="0"/>
                <a:ea typeface="Calibri" pitchFamily="34" charset="-122"/>
                <a:cs typeface="Calibri" pitchFamily="34" charset="-120"/>
              </a:rPr>
              <a:t>Before any of that runs usefully, the model's billions of internal numbers ("weights") are tuned on enormous text corpora, by repeatedly: predict the next token → compare to the real next token → adjust weights slightly to reduce the error (backpropagation + gradient descent) → repeat billions of times.</a:t>
            </a:r>
            <a:endParaRPr lang="en-US" sz="1550" dirty="0"/>
          </a:p>
        </p:txBody>
      </p:sp>
      <p:sp>
        <p:nvSpPr>
          <p:cNvPr id="5" name="Shape 3"/>
          <p:cNvSpPr/>
          <p:nvPr/>
        </p:nvSpPr>
        <p:spPr>
          <a:xfrm>
            <a:off x="859536" y="3017520"/>
            <a:ext cx="2377440" cy="1005840"/>
          </a:xfrm>
          <a:prstGeom prst="roundRect">
            <a:avLst>
              <a:gd name="adj" fmla="val 9091"/>
            </a:avLst>
          </a:prstGeom>
          <a:solidFill>
            <a:srgbClr val="F7F8FC"/>
          </a:solidFill>
          <a:ln w="12700">
            <a:solidFill>
              <a:srgbClr val="D8DCEE"/>
            </a:solidFill>
            <a:prstDash val="solid"/>
          </a:ln>
        </p:spPr>
      </p:sp>
      <p:sp>
        <p:nvSpPr>
          <p:cNvPr id="6" name="Text 4"/>
          <p:cNvSpPr txBox="1"/>
          <p:nvPr/>
        </p:nvSpPr>
        <p:spPr>
          <a:xfrm>
            <a:off x="859536" y="3017520"/>
            <a:ext cx="2377440" cy="1005840"/>
          </a:xfrm>
          <a:prstGeom prst="rect">
            <a:avLst/>
          </a:prstGeom>
          <a:noFill/>
          <a:ln/>
        </p:spPr>
        <p:txBody>
          <a:bodyPr wrap="square" lIns="0" tIns="0" rIns="0" bIns="0" rtlCol="0" anchor="ctr"/>
          <a:lstStyle/>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Predict</a:t>
            </a:r>
            <a:endParaRPr lang="en-US" sz="1400" dirty="0"/>
          </a:p>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next token</a:t>
            </a:r>
            <a:endParaRPr lang="en-US" sz="1400" dirty="0"/>
          </a:p>
        </p:txBody>
      </p:sp>
      <p:sp>
        <p:nvSpPr>
          <p:cNvPr id="7" name="Shape 5"/>
          <p:cNvSpPr/>
          <p:nvPr/>
        </p:nvSpPr>
        <p:spPr>
          <a:xfrm>
            <a:off x="3236976" y="3520440"/>
            <a:ext cx="320040" cy="0"/>
          </a:xfrm>
          <a:prstGeom prst="line">
            <a:avLst/>
          </a:prstGeom>
          <a:noFill/>
          <a:ln w="25400">
            <a:solidFill>
              <a:srgbClr val="2B2B33"/>
            </a:solidFill>
            <a:prstDash val="solid"/>
            <a:tailEnd type="triangle"/>
          </a:ln>
        </p:spPr>
      </p:sp>
      <p:sp>
        <p:nvSpPr>
          <p:cNvPr id="8" name="Shape 6"/>
          <p:cNvSpPr/>
          <p:nvPr/>
        </p:nvSpPr>
        <p:spPr>
          <a:xfrm>
            <a:off x="3557016" y="3017520"/>
            <a:ext cx="2377440" cy="1005840"/>
          </a:xfrm>
          <a:prstGeom prst="roundRect">
            <a:avLst>
              <a:gd name="adj" fmla="val 9091"/>
            </a:avLst>
          </a:prstGeom>
          <a:solidFill>
            <a:srgbClr val="F7F8FC"/>
          </a:solidFill>
          <a:ln w="12700">
            <a:solidFill>
              <a:srgbClr val="D8DCEE"/>
            </a:solidFill>
            <a:prstDash val="solid"/>
          </a:ln>
        </p:spPr>
      </p:sp>
      <p:sp>
        <p:nvSpPr>
          <p:cNvPr id="9" name="Text 7"/>
          <p:cNvSpPr txBox="1"/>
          <p:nvPr/>
        </p:nvSpPr>
        <p:spPr>
          <a:xfrm>
            <a:off x="3557016" y="3017520"/>
            <a:ext cx="2377440" cy="1005840"/>
          </a:xfrm>
          <a:prstGeom prst="rect">
            <a:avLst/>
          </a:prstGeom>
          <a:noFill/>
          <a:ln/>
        </p:spPr>
        <p:txBody>
          <a:bodyPr wrap="square" lIns="0" tIns="0" rIns="0" bIns="0" rtlCol="0" anchor="ctr"/>
          <a:lstStyle/>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Compare to</a:t>
            </a:r>
            <a:endParaRPr lang="en-US" sz="1400" dirty="0"/>
          </a:p>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actual token</a:t>
            </a:r>
            <a:endParaRPr lang="en-US" sz="1400" dirty="0"/>
          </a:p>
        </p:txBody>
      </p:sp>
      <p:sp>
        <p:nvSpPr>
          <p:cNvPr id="10" name="Shape 8"/>
          <p:cNvSpPr/>
          <p:nvPr/>
        </p:nvSpPr>
        <p:spPr>
          <a:xfrm>
            <a:off x="5934456" y="3520440"/>
            <a:ext cx="320040" cy="0"/>
          </a:xfrm>
          <a:prstGeom prst="line">
            <a:avLst/>
          </a:prstGeom>
          <a:noFill/>
          <a:ln w="25400">
            <a:solidFill>
              <a:srgbClr val="2B2B33"/>
            </a:solidFill>
            <a:prstDash val="solid"/>
            <a:tailEnd type="triangle"/>
          </a:ln>
        </p:spPr>
      </p:sp>
      <p:sp>
        <p:nvSpPr>
          <p:cNvPr id="11" name="Shape 9"/>
          <p:cNvSpPr/>
          <p:nvPr/>
        </p:nvSpPr>
        <p:spPr>
          <a:xfrm>
            <a:off x="6254496" y="3017520"/>
            <a:ext cx="2377440" cy="1005840"/>
          </a:xfrm>
          <a:prstGeom prst="roundRect">
            <a:avLst>
              <a:gd name="adj" fmla="val 9091"/>
            </a:avLst>
          </a:prstGeom>
          <a:solidFill>
            <a:srgbClr val="F7F8FC"/>
          </a:solidFill>
          <a:ln w="12700">
            <a:solidFill>
              <a:srgbClr val="D8DCEE"/>
            </a:solidFill>
            <a:prstDash val="solid"/>
          </a:ln>
        </p:spPr>
      </p:sp>
      <p:sp>
        <p:nvSpPr>
          <p:cNvPr id="12" name="Text 10"/>
          <p:cNvSpPr txBox="1"/>
          <p:nvPr/>
        </p:nvSpPr>
        <p:spPr>
          <a:xfrm>
            <a:off x="6254496" y="3017520"/>
            <a:ext cx="2377440" cy="1005840"/>
          </a:xfrm>
          <a:prstGeom prst="rect">
            <a:avLst/>
          </a:prstGeom>
          <a:noFill/>
          <a:ln/>
        </p:spPr>
        <p:txBody>
          <a:bodyPr wrap="square" lIns="0" tIns="0" rIns="0" bIns="0" rtlCol="0" anchor="ctr"/>
          <a:lstStyle/>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Compute</a:t>
            </a:r>
            <a:endParaRPr lang="en-US" sz="1400" dirty="0"/>
          </a:p>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the error</a:t>
            </a:r>
            <a:endParaRPr lang="en-US" sz="1400" dirty="0"/>
          </a:p>
        </p:txBody>
      </p:sp>
      <p:sp>
        <p:nvSpPr>
          <p:cNvPr id="13" name="Shape 11"/>
          <p:cNvSpPr/>
          <p:nvPr/>
        </p:nvSpPr>
        <p:spPr>
          <a:xfrm>
            <a:off x="8631936" y="3520440"/>
            <a:ext cx="320040" cy="0"/>
          </a:xfrm>
          <a:prstGeom prst="line">
            <a:avLst/>
          </a:prstGeom>
          <a:noFill/>
          <a:ln w="25400">
            <a:solidFill>
              <a:srgbClr val="2B2B33"/>
            </a:solidFill>
            <a:prstDash val="solid"/>
            <a:tailEnd type="triangle"/>
          </a:ln>
        </p:spPr>
      </p:sp>
      <p:sp>
        <p:nvSpPr>
          <p:cNvPr id="14" name="Shape 12"/>
          <p:cNvSpPr/>
          <p:nvPr/>
        </p:nvSpPr>
        <p:spPr>
          <a:xfrm>
            <a:off x="8951976" y="3017520"/>
            <a:ext cx="2377440" cy="1005840"/>
          </a:xfrm>
          <a:prstGeom prst="roundRect">
            <a:avLst>
              <a:gd name="adj" fmla="val 9091"/>
            </a:avLst>
          </a:prstGeom>
          <a:solidFill>
            <a:srgbClr val="F7F8FC"/>
          </a:solidFill>
          <a:ln w="12700">
            <a:solidFill>
              <a:srgbClr val="D8DCEE"/>
            </a:solidFill>
            <a:prstDash val="solid"/>
          </a:ln>
        </p:spPr>
      </p:sp>
      <p:sp>
        <p:nvSpPr>
          <p:cNvPr id="15" name="Text 13"/>
          <p:cNvSpPr txBox="1"/>
          <p:nvPr/>
        </p:nvSpPr>
        <p:spPr>
          <a:xfrm>
            <a:off x="8951976" y="3017520"/>
            <a:ext cx="2377440" cy="1005840"/>
          </a:xfrm>
          <a:prstGeom prst="rect">
            <a:avLst/>
          </a:prstGeom>
          <a:noFill/>
          <a:ln/>
        </p:spPr>
        <p:txBody>
          <a:bodyPr wrap="square" lIns="0" tIns="0" rIns="0" bIns="0" rtlCol="0" anchor="ctr"/>
          <a:lstStyle/>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Adjust</a:t>
            </a:r>
            <a:endParaRPr lang="en-US" sz="1400" dirty="0"/>
          </a:p>
          <a:p>
            <a:pPr algn="ctr" indent="0" marL="0">
              <a:lnSpc>
                <a:spcPct val="110000"/>
              </a:lnSpc>
              <a:buNone/>
            </a:pPr>
            <a:r>
              <a:rPr lang="en-US" sz="1400" b="1" dirty="0">
                <a:solidFill>
                  <a:srgbClr val="1E2761"/>
                </a:solidFill>
                <a:latin typeface="Calibri" pitchFamily="34" charset="0"/>
                <a:ea typeface="Calibri" pitchFamily="34" charset="-122"/>
                <a:cs typeface="Calibri" pitchFamily="34" charset="-120"/>
              </a:rPr>
              <a:t>weights</a:t>
            </a:r>
            <a:endParaRPr lang="en-US" sz="1400" dirty="0"/>
          </a:p>
        </p:txBody>
      </p:sp>
      <p:sp>
        <p:nvSpPr>
          <p:cNvPr id="16" name="Shape 14"/>
          <p:cNvSpPr/>
          <p:nvPr/>
        </p:nvSpPr>
        <p:spPr>
          <a:xfrm>
            <a:off x="2048256" y="4023360"/>
            <a:ext cx="0" cy="365760"/>
          </a:xfrm>
          <a:prstGeom prst="line">
            <a:avLst/>
          </a:prstGeom>
          <a:noFill/>
          <a:ln w="25400">
            <a:solidFill>
              <a:srgbClr val="C99A2E"/>
            </a:solidFill>
            <a:prstDash val="solid"/>
          </a:ln>
        </p:spPr>
      </p:sp>
      <p:sp>
        <p:nvSpPr>
          <p:cNvPr id="17" name="Shape 15"/>
          <p:cNvSpPr/>
          <p:nvPr/>
        </p:nvSpPr>
        <p:spPr>
          <a:xfrm>
            <a:off x="10140696" y="4389120"/>
            <a:ext cx="-8092440" cy="0"/>
          </a:xfrm>
          <a:prstGeom prst="line">
            <a:avLst/>
          </a:prstGeom>
          <a:noFill/>
          <a:ln w="25400">
            <a:solidFill>
              <a:srgbClr val="C99A2E"/>
            </a:solidFill>
            <a:prstDash val="solid"/>
          </a:ln>
        </p:spPr>
      </p:sp>
      <p:sp>
        <p:nvSpPr>
          <p:cNvPr id="18" name="Shape 16"/>
          <p:cNvSpPr/>
          <p:nvPr/>
        </p:nvSpPr>
        <p:spPr>
          <a:xfrm>
            <a:off x="10140696" y="4023360"/>
            <a:ext cx="0" cy="365760"/>
          </a:xfrm>
          <a:prstGeom prst="line">
            <a:avLst/>
          </a:prstGeom>
          <a:noFill/>
          <a:ln w="25400">
            <a:solidFill>
              <a:srgbClr val="C99A2E"/>
            </a:solidFill>
            <a:prstDash val="solid"/>
            <a:tailEnd type="triangle"/>
          </a:ln>
        </p:spPr>
      </p:sp>
      <p:sp>
        <p:nvSpPr>
          <p:cNvPr id="19" name="Shape 17"/>
          <p:cNvSpPr/>
          <p:nvPr/>
        </p:nvSpPr>
        <p:spPr>
          <a:xfrm>
            <a:off x="548640" y="4846320"/>
            <a:ext cx="11091672" cy="1554480"/>
          </a:xfrm>
          <a:prstGeom prst="roundRect">
            <a:avLst>
              <a:gd name="adj" fmla="val 5882"/>
            </a:avLst>
          </a:prstGeom>
          <a:solidFill>
            <a:srgbClr val="FBF3DF"/>
          </a:solidFill>
          <a:ln w="12700">
            <a:solidFill>
              <a:srgbClr val="C99A2E"/>
            </a:solidFill>
            <a:prstDash val="solid"/>
          </a:ln>
        </p:spPr>
      </p:sp>
      <p:sp>
        <p:nvSpPr>
          <p:cNvPr id="20" name="Text 18"/>
          <p:cNvSpPr txBox="1"/>
          <p:nvPr/>
        </p:nvSpPr>
        <p:spPr>
          <a:xfrm>
            <a:off x="822960" y="4937760"/>
            <a:ext cx="10543032" cy="1371600"/>
          </a:xfrm>
          <a:prstGeom prst="rect">
            <a:avLst/>
          </a:prstGeom>
          <a:noFill/>
          <a:ln/>
        </p:spPr>
        <p:txBody>
          <a:bodyPr wrap="square" lIns="0" tIns="0" rIns="0" bIns="0" rtlCol="0" anchor="ctr"/>
          <a:lstStyle/>
          <a:p>
            <a:pPr indent="0" marL="0">
              <a:lnSpc>
                <a:spcPct val="120000"/>
              </a:lnSpc>
              <a:buNone/>
            </a:pPr>
            <a:r>
              <a:rPr lang="en-US" sz="1100" b="1" dirty="0">
                <a:solidFill>
                  <a:srgbClr val="C99A2E"/>
                </a:solidFill>
                <a:latin typeface="Calibri" pitchFamily="34" charset="0"/>
                <a:ea typeface="Calibri" pitchFamily="34" charset="-122"/>
                <a:cs typeface="Calibri" pitchFamily="34" charset="-120"/>
              </a:rPr>
              <a:t>COURSE CONNECTION   </a:t>
            </a:r>
            <a:endParaRPr lang="en-US" sz="1100" dirty="0"/>
          </a:p>
          <a:p>
            <a:pPr indent="0" marL="0">
              <a:lnSpc>
                <a:spcPct val="120000"/>
              </a:lnSpc>
              <a:buNone/>
            </a:pPr>
            <a:r>
              <a:rPr lang="en-US" sz="1350" i="1" dirty="0">
                <a:solidFill>
                  <a:srgbClr val="5C4A0A"/>
                </a:solidFill>
                <a:latin typeface="Calibri" pitchFamily="34" charset="0"/>
                <a:ea typeface="Calibri" pitchFamily="34" charset="-122"/>
                <a:cs typeface="Calibri" pitchFamily="34" charset="-120"/>
              </a:rPr>
              <a:t>Finding the best possible weights is, in the worst case, provably hard: Blum &amp; Rivest (1988) proved that training even a tiny 3-node neural network to correctly fit a dataset is NP-complete. Real training doesn't try to be optimal — it settles for "good enough" via gradient descent. This is a Week 14 result, sitting right next to the P vs. NP material.</a:t>
            </a:r>
            <a:endParaRPr lang="en-US" sz="1100" dirty="0"/>
          </a:p>
        </p:txBody>
      </p:sp>
      <p:sp>
        <p:nvSpPr>
          <p:cNvPr id="21" name="Text 19"/>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BEYOND THE FORWARD PASS</a:t>
            </a:r>
            <a:endParaRPr lang="en-US" sz="13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Alignment: making it follow instructions</a:t>
            </a:r>
            <a:endParaRPr lang="en-US" sz="3200" dirty="0"/>
          </a:p>
        </p:txBody>
      </p:sp>
      <p:sp>
        <p:nvSpPr>
          <p:cNvPr id="4" name="Shape 2"/>
          <p:cNvSpPr/>
          <p:nvPr/>
        </p:nvSpPr>
        <p:spPr>
          <a:xfrm>
            <a:off x="548640" y="1737360"/>
            <a:ext cx="3514344" cy="3108960"/>
          </a:xfrm>
          <a:prstGeom prst="roundRect">
            <a:avLst>
              <a:gd name="adj" fmla="val 2941"/>
            </a:avLst>
          </a:prstGeom>
          <a:solidFill>
            <a:srgbClr val="F7F8FC"/>
          </a:solidFill>
          <a:ln/>
        </p:spPr>
      </p:sp>
      <p:sp>
        <p:nvSpPr>
          <p:cNvPr id="5" name="Shape 3"/>
          <p:cNvSpPr/>
          <p:nvPr/>
        </p:nvSpPr>
        <p:spPr>
          <a:xfrm>
            <a:off x="822960" y="1965960"/>
            <a:ext cx="502920" cy="502920"/>
          </a:xfrm>
          <a:prstGeom prst="ellipse">
            <a:avLst/>
          </a:prstGeom>
          <a:solidFill>
            <a:srgbClr val="1E2761"/>
          </a:solidFill>
          <a:ln/>
        </p:spPr>
      </p:sp>
      <p:sp>
        <p:nvSpPr>
          <p:cNvPr id="6" name="Text 4"/>
          <p:cNvSpPr txBox="1"/>
          <p:nvPr/>
        </p:nvSpPr>
        <p:spPr>
          <a:xfrm>
            <a:off x="8229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822960" y="2606040"/>
            <a:ext cx="2965704"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Pretraining</a:t>
            </a:r>
            <a:endParaRPr lang="en-US" sz="1500" dirty="0"/>
          </a:p>
        </p:txBody>
      </p:sp>
      <p:sp>
        <p:nvSpPr>
          <p:cNvPr id="8" name="Text 6"/>
          <p:cNvSpPr txBox="1"/>
          <p:nvPr/>
        </p:nvSpPr>
        <p:spPr>
          <a:xfrm>
            <a:off x="822960" y="3063240"/>
            <a:ext cx="2965704" cy="1645920"/>
          </a:xfrm>
          <a:prstGeom prst="rect">
            <a:avLst/>
          </a:prstGeom>
          <a:noFill/>
          <a:ln/>
        </p:spPr>
        <p:txBody>
          <a:bodyPr wrap="square" lIns="0" tIns="0" rIns="0" bIns="0" rtlCol="0" anchor="ctr"/>
          <a:lstStyle/>
          <a:p>
            <a:pPr indent="0" marL="0">
              <a:lnSpc>
                <a:spcPct val="125000"/>
              </a:lnSpc>
              <a:buNone/>
            </a:pPr>
            <a:r>
              <a:rPr lang="en-US" sz="1250" dirty="0">
                <a:solidFill>
                  <a:srgbClr val="2B2B33"/>
                </a:solidFill>
                <a:latin typeface="Calibri" pitchFamily="34" charset="0"/>
                <a:ea typeface="Calibri" pitchFamily="34" charset="-122"/>
                <a:cs typeface="Calibri" pitchFamily="34" charset="-120"/>
              </a:rPr>
              <a:t>Predict the next token on huge, general text. Produces a model that completes text — not one that follows instructions.</a:t>
            </a:r>
            <a:endParaRPr lang="en-US" sz="1250" dirty="0"/>
          </a:p>
        </p:txBody>
      </p:sp>
      <p:sp>
        <p:nvSpPr>
          <p:cNvPr id="9" name="Shape 7"/>
          <p:cNvSpPr/>
          <p:nvPr/>
        </p:nvSpPr>
        <p:spPr>
          <a:xfrm>
            <a:off x="4337304" y="1737360"/>
            <a:ext cx="3514344" cy="3108960"/>
          </a:xfrm>
          <a:prstGeom prst="roundRect">
            <a:avLst>
              <a:gd name="adj" fmla="val 2941"/>
            </a:avLst>
          </a:prstGeom>
          <a:solidFill>
            <a:srgbClr val="F7F8FC"/>
          </a:solidFill>
          <a:ln/>
        </p:spPr>
      </p:sp>
      <p:sp>
        <p:nvSpPr>
          <p:cNvPr id="10" name="Shape 8"/>
          <p:cNvSpPr/>
          <p:nvPr/>
        </p:nvSpPr>
        <p:spPr>
          <a:xfrm>
            <a:off x="4611624" y="1965960"/>
            <a:ext cx="502920" cy="502920"/>
          </a:xfrm>
          <a:prstGeom prst="ellipse">
            <a:avLst/>
          </a:prstGeom>
          <a:solidFill>
            <a:srgbClr val="5C68BC"/>
          </a:solidFill>
          <a:ln/>
        </p:spPr>
      </p:sp>
      <p:sp>
        <p:nvSpPr>
          <p:cNvPr id="11" name="Text 9"/>
          <p:cNvSpPr txBox="1"/>
          <p:nvPr/>
        </p:nvSpPr>
        <p:spPr>
          <a:xfrm>
            <a:off x="4611624"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4611624" y="2606040"/>
            <a:ext cx="2965704"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Instruction Tuning</a:t>
            </a:r>
            <a:endParaRPr lang="en-US" sz="1500" dirty="0"/>
          </a:p>
        </p:txBody>
      </p:sp>
      <p:sp>
        <p:nvSpPr>
          <p:cNvPr id="13" name="Text 11"/>
          <p:cNvSpPr txBox="1"/>
          <p:nvPr/>
        </p:nvSpPr>
        <p:spPr>
          <a:xfrm>
            <a:off x="4611624" y="3063240"/>
            <a:ext cx="2965704" cy="1645920"/>
          </a:xfrm>
          <a:prstGeom prst="rect">
            <a:avLst/>
          </a:prstGeom>
          <a:noFill/>
          <a:ln/>
        </p:spPr>
        <p:txBody>
          <a:bodyPr wrap="square" lIns="0" tIns="0" rIns="0" bIns="0" rtlCol="0" anchor="ctr"/>
          <a:lstStyle/>
          <a:p>
            <a:pPr indent="0" marL="0">
              <a:lnSpc>
                <a:spcPct val="125000"/>
              </a:lnSpc>
              <a:buNone/>
            </a:pPr>
            <a:r>
              <a:rPr lang="en-US" sz="1250" dirty="0">
                <a:solidFill>
                  <a:srgbClr val="2B2B33"/>
                </a:solidFill>
                <a:latin typeface="Calibri" pitchFamily="34" charset="0"/>
                <a:ea typeface="Calibri" pitchFamily="34" charset="-122"/>
                <a:cs typeface="Calibri" pitchFamily="34" charset="-120"/>
              </a:rPr>
              <a:t>Fine-tune on examples of (instruction → good response) pairs, so the model learns the "assistant" behavior.</a:t>
            </a:r>
            <a:endParaRPr lang="en-US" sz="1250" dirty="0"/>
          </a:p>
        </p:txBody>
      </p:sp>
      <p:sp>
        <p:nvSpPr>
          <p:cNvPr id="14" name="Shape 12"/>
          <p:cNvSpPr/>
          <p:nvPr/>
        </p:nvSpPr>
        <p:spPr>
          <a:xfrm>
            <a:off x="8125968" y="1737360"/>
            <a:ext cx="3514344" cy="3108960"/>
          </a:xfrm>
          <a:prstGeom prst="roundRect">
            <a:avLst>
              <a:gd name="adj" fmla="val 2941"/>
            </a:avLst>
          </a:prstGeom>
          <a:solidFill>
            <a:srgbClr val="F7F8FC"/>
          </a:solidFill>
          <a:ln/>
        </p:spPr>
      </p:sp>
      <p:sp>
        <p:nvSpPr>
          <p:cNvPr id="15" name="Shape 13"/>
          <p:cNvSpPr/>
          <p:nvPr/>
        </p:nvSpPr>
        <p:spPr>
          <a:xfrm>
            <a:off x="8400288" y="1965960"/>
            <a:ext cx="502920" cy="502920"/>
          </a:xfrm>
          <a:prstGeom prst="ellipse">
            <a:avLst/>
          </a:prstGeom>
          <a:solidFill>
            <a:srgbClr val="C99A2E"/>
          </a:solidFill>
          <a:ln/>
        </p:spPr>
      </p:sp>
      <p:sp>
        <p:nvSpPr>
          <p:cNvPr id="16" name="Text 14"/>
          <p:cNvSpPr txBox="1"/>
          <p:nvPr/>
        </p:nvSpPr>
        <p:spPr>
          <a:xfrm>
            <a:off x="8400288"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8400288" y="2606040"/>
            <a:ext cx="2965704"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RLHF / Preference Tuning</a:t>
            </a:r>
            <a:endParaRPr lang="en-US" sz="1500" dirty="0"/>
          </a:p>
        </p:txBody>
      </p:sp>
      <p:sp>
        <p:nvSpPr>
          <p:cNvPr id="18" name="Text 16"/>
          <p:cNvSpPr txBox="1"/>
          <p:nvPr/>
        </p:nvSpPr>
        <p:spPr>
          <a:xfrm>
            <a:off x="8400288" y="3063240"/>
            <a:ext cx="2965704" cy="1645920"/>
          </a:xfrm>
          <a:prstGeom prst="rect">
            <a:avLst/>
          </a:prstGeom>
          <a:noFill/>
          <a:ln/>
        </p:spPr>
        <p:txBody>
          <a:bodyPr wrap="square" lIns="0" tIns="0" rIns="0" bIns="0" rtlCol="0" anchor="ctr"/>
          <a:lstStyle/>
          <a:p>
            <a:pPr indent="0" marL="0">
              <a:lnSpc>
                <a:spcPct val="125000"/>
              </a:lnSpc>
              <a:buNone/>
            </a:pPr>
            <a:r>
              <a:rPr lang="en-US" sz="1250" dirty="0">
                <a:solidFill>
                  <a:srgbClr val="2B2B33"/>
                </a:solidFill>
                <a:latin typeface="Calibri" pitchFamily="34" charset="0"/>
                <a:ea typeface="Calibri" pitchFamily="34" charset="-122"/>
                <a:cs typeface="Calibri" pitchFamily="34" charset="-120"/>
              </a:rPr>
              <a:t>Humans rank model outputs; the model is further tuned to prefer responses people rate as more helpful, honest, and safe.</a:t>
            </a:r>
            <a:endParaRPr lang="en-US" sz="1250" dirty="0"/>
          </a:p>
        </p:txBody>
      </p:sp>
      <p:sp>
        <p:nvSpPr>
          <p:cNvPr id="19" name="Text 17"/>
          <p:cNvSpPr txBox="1"/>
          <p:nvPr/>
        </p:nvSpPr>
        <p:spPr>
          <a:xfrm>
            <a:off x="548640" y="5074920"/>
            <a:ext cx="11091672" cy="731520"/>
          </a:xfrm>
          <a:prstGeom prst="rect">
            <a:avLst/>
          </a:prstGeom>
          <a:noFill/>
          <a:ln/>
        </p:spPr>
        <p:txBody>
          <a:bodyPr wrap="square" lIns="0" tIns="0" rIns="0" bIns="0" rtlCol="0" anchor="ctr"/>
          <a:lstStyle/>
          <a:p>
            <a:pPr indent="0" marL="0">
              <a:lnSpc>
                <a:spcPct val="120000"/>
              </a:lnSpc>
              <a:buNone/>
            </a:pPr>
            <a:r>
              <a:rPr lang="en-US" sz="1300" i="1" dirty="0">
                <a:solidFill>
                  <a:srgbClr val="6B7280"/>
                </a:solidFill>
                <a:latin typeface="Calibri" pitchFamily="34" charset="0"/>
                <a:ea typeface="Calibri" pitchFamily="34" charset="-122"/>
                <a:cs typeface="Calibri" pitchFamily="34" charset="-120"/>
              </a:rPr>
              <a:t>A briefer stop for us — alignment is mostly an engineering and human-feedback process, not a place where automata/complexity theory bites directly. Worth knowing it exists so "the model" isn't a mystery black box.</a:t>
            </a:r>
            <a:endParaRPr lang="en-US" sz="1300" dirty="0"/>
          </a:p>
        </p:txBody>
      </p:sp>
      <p:sp>
        <p:nvSpPr>
          <p:cNvPr id="20" name="Text 18"/>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49"/>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HOW TEXT ACTUALLY COMES OUT</a:t>
            </a:r>
            <a:endParaRPr lang="en-US" sz="1300" dirty="0"/>
          </a:p>
        </p:txBody>
      </p:sp>
      <p:sp>
        <p:nvSpPr>
          <p:cNvPr id="3" name="Text 1"/>
          <p:cNvSpPr txBox="1"/>
          <p:nvPr/>
        </p:nvSpPr>
        <p:spPr>
          <a:xfrm>
            <a:off x="548640" y="457200"/>
            <a:ext cx="11091672"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Decoding strategies</a:t>
            </a:r>
            <a:endParaRPr lang="en-US" sz="3000" dirty="0"/>
          </a:p>
        </p:txBody>
      </p:sp>
      <p:sp>
        <p:nvSpPr>
          <p:cNvPr id="4" name="Shape 2"/>
          <p:cNvSpPr/>
          <p:nvPr/>
        </p:nvSpPr>
        <p:spPr>
          <a:xfrm>
            <a:off x="548640" y="1554480"/>
            <a:ext cx="2567178" cy="2377440"/>
          </a:xfrm>
          <a:prstGeom prst="roundRect">
            <a:avLst>
              <a:gd name="adj" fmla="val 3846"/>
            </a:avLst>
          </a:prstGeom>
          <a:solidFill>
            <a:srgbClr val="232B63"/>
          </a:solidFill>
          <a:ln w="12700">
            <a:solidFill>
              <a:srgbClr val="3A4694"/>
            </a:solidFill>
            <a:prstDash val="solid"/>
          </a:ln>
        </p:spPr>
      </p:sp>
      <p:sp>
        <p:nvSpPr>
          <p:cNvPr id="5" name="Text 3"/>
          <p:cNvSpPr txBox="1"/>
          <p:nvPr/>
        </p:nvSpPr>
        <p:spPr>
          <a:xfrm>
            <a:off x="731520" y="1737360"/>
            <a:ext cx="2201418" cy="548640"/>
          </a:xfrm>
          <a:prstGeom prst="rect">
            <a:avLst/>
          </a:prstGeom>
          <a:noFill/>
          <a:ln/>
        </p:spPr>
        <p:txBody>
          <a:bodyPr wrap="square" lIns="0" tIns="0" rIns="0" bIns="0" rtlCol="0" anchor="ctr"/>
          <a:lstStyle/>
          <a:p>
            <a:pPr indent="0" marL="0">
              <a:buNone/>
            </a:pPr>
            <a:r>
              <a:rPr lang="en-US" sz="1500" b="1" dirty="0">
                <a:solidFill>
                  <a:srgbClr val="5C68BC"/>
                </a:solidFill>
                <a:latin typeface="Cambria" pitchFamily="34" charset="0"/>
                <a:ea typeface="Cambria" pitchFamily="34" charset="-122"/>
                <a:cs typeface="Cambria" pitchFamily="34" charset="-120"/>
              </a:rPr>
              <a:t>Greedy</a:t>
            </a:r>
            <a:endParaRPr lang="en-US" sz="1500" dirty="0"/>
          </a:p>
        </p:txBody>
      </p:sp>
      <p:sp>
        <p:nvSpPr>
          <p:cNvPr id="6" name="Text 4"/>
          <p:cNvSpPr txBox="1"/>
          <p:nvPr/>
        </p:nvSpPr>
        <p:spPr>
          <a:xfrm>
            <a:off x="731520" y="2331720"/>
            <a:ext cx="2201418" cy="146304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Always pick the single most likely next token.</a:t>
            </a:r>
            <a:endParaRPr lang="en-US" sz="1150" dirty="0"/>
          </a:p>
        </p:txBody>
      </p:sp>
      <p:sp>
        <p:nvSpPr>
          <p:cNvPr id="7" name="Shape 5"/>
          <p:cNvSpPr/>
          <p:nvPr/>
        </p:nvSpPr>
        <p:spPr>
          <a:xfrm>
            <a:off x="3390138" y="1554480"/>
            <a:ext cx="2567178" cy="2377440"/>
          </a:xfrm>
          <a:prstGeom prst="roundRect">
            <a:avLst>
              <a:gd name="adj" fmla="val 3846"/>
            </a:avLst>
          </a:prstGeom>
          <a:solidFill>
            <a:srgbClr val="232B63"/>
          </a:solidFill>
          <a:ln w="12700">
            <a:solidFill>
              <a:srgbClr val="3A4694"/>
            </a:solidFill>
            <a:prstDash val="solid"/>
          </a:ln>
        </p:spPr>
      </p:sp>
      <p:sp>
        <p:nvSpPr>
          <p:cNvPr id="8" name="Text 6"/>
          <p:cNvSpPr txBox="1"/>
          <p:nvPr/>
        </p:nvSpPr>
        <p:spPr>
          <a:xfrm>
            <a:off x="3573018" y="1737360"/>
            <a:ext cx="2201418" cy="548640"/>
          </a:xfrm>
          <a:prstGeom prst="rect">
            <a:avLst/>
          </a:prstGeom>
          <a:noFill/>
          <a:ln/>
        </p:spPr>
        <p:txBody>
          <a:bodyPr wrap="square" lIns="0" tIns="0" rIns="0" bIns="0" rtlCol="0" anchor="ctr"/>
          <a:lstStyle/>
          <a:p>
            <a:pPr indent="0" marL="0">
              <a:buNone/>
            </a:pPr>
            <a:r>
              <a:rPr lang="en-US" sz="1500" b="1" dirty="0">
                <a:solidFill>
                  <a:srgbClr val="5C68BC"/>
                </a:solidFill>
                <a:latin typeface="Cambria" pitchFamily="34" charset="0"/>
                <a:ea typeface="Cambria" pitchFamily="34" charset="-122"/>
                <a:cs typeface="Cambria" pitchFamily="34" charset="-120"/>
              </a:rPr>
              <a:t>Sampling</a:t>
            </a:r>
            <a:endParaRPr lang="en-US" sz="1500" dirty="0"/>
          </a:p>
        </p:txBody>
      </p:sp>
      <p:sp>
        <p:nvSpPr>
          <p:cNvPr id="9" name="Text 7"/>
          <p:cNvSpPr txBox="1"/>
          <p:nvPr/>
        </p:nvSpPr>
        <p:spPr>
          <a:xfrm>
            <a:off x="3573018" y="2331720"/>
            <a:ext cx="2201418" cy="146304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Pick randomly, weighted by probability — adds variety.</a:t>
            </a:r>
            <a:endParaRPr lang="en-US" sz="1150" dirty="0"/>
          </a:p>
        </p:txBody>
      </p:sp>
      <p:sp>
        <p:nvSpPr>
          <p:cNvPr id="10" name="Shape 8"/>
          <p:cNvSpPr/>
          <p:nvPr/>
        </p:nvSpPr>
        <p:spPr>
          <a:xfrm>
            <a:off x="6231636" y="1554480"/>
            <a:ext cx="2567178" cy="2377440"/>
          </a:xfrm>
          <a:prstGeom prst="roundRect">
            <a:avLst>
              <a:gd name="adj" fmla="val 3846"/>
            </a:avLst>
          </a:prstGeom>
          <a:solidFill>
            <a:srgbClr val="232B63"/>
          </a:solidFill>
          <a:ln w="12700">
            <a:solidFill>
              <a:srgbClr val="3A4694"/>
            </a:solidFill>
            <a:prstDash val="solid"/>
          </a:ln>
        </p:spPr>
      </p:sp>
      <p:sp>
        <p:nvSpPr>
          <p:cNvPr id="11" name="Text 9"/>
          <p:cNvSpPr txBox="1"/>
          <p:nvPr/>
        </p:nvSpPr>
        <p:spPr>
          <a:xfrm>
            <a:off x="6414516" y="1737360"/>
            <a:ext cx="2201418" cy="548640"/>
          </a:xfrm>
          <a:prstGeom prst="rect">
            <a:avLst/>
          </a:prstGeom>
          <a:noFill/>
          <a:ln/>
        </p:spPr>
        <p:txBody>
          <a:bodyPr wrap="square" lIns="0" tIns="0" rIns="0" bIns="0" rtlCol="0" anchor="ctr"/>
          <a:lstStyle/>
          <a:p>
            <a:pPr indent="0" marL="0">
              <a:buNone/>
            </a:pPr>
            <a:r>
              <a:rPr lang="en-US" sz="1500" b="1" dirty="0">
                <a:solidFill>
                  <a:srgbClr val="5C68BC"/>
                </a:solidFill>
                <a:latin typeface="Cambria" pitchFamily="34" charset="0"/>
                <a:ea typeface="Cambria" pitchFamily="34" charset="-122"/>
                <a:cs typeface="Cambria" pitchFamily="34" charset="-120"/>
              </a:rPr>
              <a:t>Beam Search</a:t>
            </a:r>
            <a:endParaRPr lang="en-US" sz="1500" dirty="0"/>
          </a:p>
        </p:txBody>
      </p:sp>
      <p:sp>
        <p:nvSpPr>
          <p:cNvPr id="12" name="Text 10"/>
          <p:cNvSpPr txBox="1"/>
          <p:nvPr/>
        </p:nvSpPr>
        <p:spPr>
          <a:xfrm>
            <a:off x="6414516" y="2331720"/>
            <a:ext cx="2201418" cy="146304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Track several candidate continuations, keep the best.</a:t>
            </a:r>
            <a:endParaRPr lang="en-US" sz="1150" dirty="0"/>
          </a:p>
        </p:txBody>
      </p:sp>
      <p:sp>
        <p:nvSpPr>
          <p:cNvPr id="13" name="Shape 11"/>
          <p:cNvSpPr/>
          <p:nvPr/>
        </p:nvSpPr>
        <p:spPr>
          <a:xfrm>
            <a:off x="9073134" y="1554480"/>
            <a:ext cx="2567178" cy="2377440"/>
          </a:xfrm>
          <a:prstGeom prst="roundRect">
            <a:avLst>
              <a:gd name="adj" fmla="val 3846"/>
            </a:avLst>
          </a:prstGeom>
          <a:solidFill>
            <a:srgbClr val="232B63"/>
          </a:solidFill>
          <a:ln w="19050">
            <a:solidFill>
              <a:srgbClr val="C99A2E"/>
            </a:solidFill>
            <a:prstDash val="solid"/>
          </a:ln>
        </p:spPr>
      </p:sp>
      <p:sp>
        <p:nvSpPr>
          <p:cNvPr id="14" name="Text 12"/>
          <p:cNvSpPr txBox="1"/>
          <p:nvPr/>
        </p:nvSpPr>
        <p:spPr>
          <a:xfrm>
            <a:off x="9256014" y="1737360"/>
            <a:ext cx="2201418" cy="548640"/>
          </a:xfrm>
          <a:prstGeom prst="rect">
            <a:avLst/>
          </a:prstGeom>
          <a:noFill/>
          <a:ln/>
        </p:spPr>
        <p:txBody>
          <a:bodyPr wrap="square" lIns="0" tIns="0" rIns="0" bIns="0" rtlCol="0" anchor="ctr"/>
          <a:lstStyle/>
          <a:p>
            <a:pPr indent="0" marL="0">
              <a:buNone/>
            </a:pPr>
            <a:r>
              <a:rPr lang="en-US" sz="1500" b="1" dirty="0">
                <a:solidFill>
                  <a:srgbClr val="C99A2E"/>
                </a:solidFill>
                <a:latin typeface="Cambria" pitchFamily="34" charset="0"/>
                <a:ea typeface="Cambria" pitchFamily="34" charset="-122"/>
                <a:cs typeface="Cambria" pitchFamily="34" charset="-120"/>
              </a:rPr>
              <a:t>Grammar-Constrained</a:t>
            </a:r>
            <a:endParaRPr lang="en-US" sz="1500" dirty="0"/>
          </a:p>
        </p:txBody>
      </p:sp>
      <p:sp>
        <p:nvSpPr>
          <p:cNvPr id="15" name="Text 13"/>
          <p:cNvSpPr txBox="1"/>
          <p:nvPr/>
        </p:nvSpPr>
        <p:spPr>
          <a:xfrm>
            <a:off x="9256014" y="2331720"/>
            <a:ext cx="2201418" cy="146304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Only allow tokens a given grammar accepts — e.g., force valid JSON.</a:t>
            </a:r>
            <a:endParaRPr lang="en-US" sz="1150" dirty="0"/>
          </a:p>
        </p:txBody>
      </p:sp>
      <p:sp>
        <p:nvSpPr>
          <p:cNvPr id="16" name="Shape 14"/>
          <p:cNvSpPr/>
          <p:nvPr/>
        </p:nvSpPr>
        <p:spPr>
          <a:xfrm>
            <a:off x="548640" y="4206240"/>
            <a:ext cx="11091672" cy="1554480"/>
          </a:xfrm>
          <a:prstGeom prst="roundRect">
            <a:avLst>
              <a:gd name="adj" fmla="val 5882"/>
            </a:avLst>
          </a:prstGeom>
          <a:solidFill>
            <a:srgbClr val="FBF3DF"/>
          </a:solidFill>
          <a:ln w="12700">
            <a:solidFill>
              <a:srgbClr val="C99A2E"/>
            </a:solidFill>
            <a:prstDash val="solid"/>
          </a:ln>
        </p:spPr>
      </p:sp>
      <p:sp>
        <p:nvSpPr>
          <p:cNvPr id="17" name="Text 15"/>
          <p:cNvSpPr txBox="1"/>
          <p:nvPr/>
        </p:nvSpPr>
        <p:spPr>
          <a:xfrm>
            <a:off x="822960" y="4297680"/>
            <a:ext cx="10543032" cy="1371600"/>
          </a:xfrm>
          <a:prstGeom prst="rect">
            <a:avLst/>
          </a:prstGeom>
          <a:noFill/>
          <a:ln/>
        </p:spPr>
        <p:txBody>
          <a:bodyPr wrap="square" lIns="0" tIns="0" rIns="0" bIns="0" rtlCol="0" anchor="ctr"/>
          <a:lstStyle/>
          <a:p>
            <a:pPr indent="0" marL="0">
              <a:lnSpc>
                <a:spcPct val="120000"/>
              </a:lnSpc>
              <a:buNone/>
            </a:pPr>
            <a:r>
              <a:rPr lang="en-US" sz="1100" b="1" dirty="0">
                <a:solidFill>
                  <a:srgbClr val="C99A2E"/>
                </a:solidFill>
                <a:latin typeface="Calibri" pitchFamily="34" charset="0"/>
                <a:ea typeface="Calibri" pitchFamily="34" charset="-122"/>
                <a:cs typeface="Calibri" pitchFamily="34" charset="-120"/>
              </a:rPr>
              <a:t>COURSE CONNECTION   </a:t>
            </a:r>
            <a:endParaRPr lang="en-US" sz="1100" dirty="0"/>
          </a:p>
          <a:p>
            <a:pPr indent="0" marL="0">
              <a:lnSpc>
                <a:spcPct val="120000"/>
              </a:lnSpc>
              <a:buNone/>
            </a:pPr>
            <a:r>
              <a:rPr lang="en-US" sz="1350" i="1" dirty="0">
                <a:solidFill>
                  <a:srgbClr val="5C4A0A"/>
                </a:solidFill>
                <a:latin typeface="Calibri" pitchFamily="34" charset="0"/>
                <a:ea typeface="Calibri" pitchFamily="34" charset="-122"/>
                <a:cs typeface="Calibri" pitchFamily="34" charset="-120"/>
              </a:rPr>
              <a:t>"Grammar-constrained" decoding is not a metaphor: production systems (XGrammar, Outlines) run an actual pushdown automaton alongside the model at every step, intersecting the model's token probabilities with the set of moves the grammar's PDA allows. This is precisely the Week 7 lab — you'll build a small version of this yourself.</a:t>
            </a:r>
            <a:endParaRPr lang="en-US" sz="1100" dirty="0"/>
          </a:p>
        </p:txBody>
      </p:sp>
      <p:sp>
        <p:nvSpPr>
          <p:cNvPr id="18" name="Text 16"/>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BEYOND A SINGLE FORWARD PASS</a:t>
            </a:r>
            <a:endParaRPr lang="en-US" sz="13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From LLM to agent</a:t>
            </a:r>
            <a:endParaRPr lang="en-US" sz="3200" dirty="0"/>
          </a:p>
        </p:txBody>
      </p:sp>
      <p:sp>
        <p:nvSpPr>
          <p:cNvPr id="4" name="Shape 2"/>
          <p:cNvSpPr/>
          <p:nvPr/>
        </p:nvSpPr>
        <p:spPr>
          <a:xfrm>
            <a:off x="548640" y="1600200"/>
            <a:ext cx="5120640" cy="3291840"/>
          </a:xfrm>
          <a:prstGeom prst="roundRect">
            <a:avLst>
              <a:gd name="adj" fmla="val 2778"/>
            </a:avLst>
          </a:prstGeom>
          <a:solidFill>
            <a:srgbClr val="F7F8FC"/>
          </a:solidFill>
          <a:ln/>
        </p:spPr>
      </p:sp>
      <p:sp>
        <p:nvSpPr>
          <p:cNvPr id="5" name="Text 3"/>
          <p:cNvSpPr txBox="1"/>
          <p:nvPr/>
        </p:nvSpPr>
        <p:spPr>
          <a:xfrm>
            <a:off x="822960" y="1783080"/>
            <a:ext cx="45720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 plain LLM call</a:t>
            </a:r>
            <a:endParaRPr lang="en-US" sz="1500" dirty="0"/>
          </a:p>
        </p:txBody>
      </p:sp>
      <p:sp>
        <p:nvSpPr>
          <p:cNvPr id="6" name="Text 4"/>
          <p:cNvSpPr txBox="1"/>
          <p:nvPr/>
        </p:nvSpPr>
        <p:spPr>
          <a:xfrm>
            <a:off x="822960" y="2194560"/>
            <a:ext cx="4572000" cy="731520"/>
          </a:xfrm>
          <a:prstGeom prst="rect">
            <a:avLst/>
          </a:prstGeom>
          <a:noFill/>
          <a:ln/>
        </p:spPr>
        <p:txBody>
          <a:bodyPr wrap="square" lIns="0" tIns="0" rIns="0" bIns="0" rtlCol="0" anchor="ctr"/>
          <a:lstStyle/>
          <a:p>
            <a:pPr indent="0" marL="0">
              <a:lnSpc>
                <a:spcPct val="125000"/>
              </a:lnSpc>
              <a:buNone/>
            </a:pPr>
            <a:r>
              <a:rPr lang="en-US" sz="1300" dirty="0">
                <a:solidFill>
                  <a:srgbClr val="2B2B33"/>
                </a:solidFill>
                <a:latin typeface="Calibri" pitchFamily="34" charset="0"/>
                <a:ea typeface="Calibri" pitchFamily="34" charset="-122"/>
                <a:cs typeface="Calibri" pitchFamily="34" charset="-120"/>
              </a:rPr>
              <a:t>One bounded forward pass in, text out. No memory between calls, no ability to act on the world.</a:t>
            </a:r>
            <a:endParaRPr lang="en-US" sz="1300" dirty="0"/>
          </a:p>
        </p:txBody>
      </p:sp>
      <p:sp>
        <p:nvSpPr>
          <p:cNvPr id="7" name="Text 5"/>
          <p:cNvSpPr txBox="1"/>
          <p:nvPr/>
        </p:nvSpPr>
        <p:spPr>
          <a:xfrm>
            <a:off x="822960" y="3017520"/>
            <a:ext cx="4572000" cy="731520"/>
          </a:xfrm>
          <a:prstGeom prst="rect">
            <a:avLst/>
          </a:prstGeom>
          <a:noFill/>
          <a:ln/>
        </p:spPr>
        <p:txBody>
          <a:bodyPr wrap="square" lIns="0" tIns="0" rIns="0" bIns="0" rtlCol="0" anchor="ctr"/>
          <a:lstStyle/>
          <a:p>
            <a:pPr indent="0" marL="0">
              <a:lnSpc>
                <a:spcPct val="130000"/>
              </a:lnSpc>
              <a:buNone/>
            </a:pPr>
            <a:r>
              <a:rPr lang="en-US" sz="1300" i="1" dirty="0">
                <a:solidFill>
                  <a:srgbClr val="C99A2E"/>
                </a:solidFill>
                <a:latin typeface="Consolas" pitchFamily="34" charset="0"/>
                <a:ea typeface="Consolas" pitchFamily="34" charset="-122"/>
                <a:cs typeface="Consolas" pitchFamily="34" charset="-120"/>
              </a:rPr>
              <a:t>≈ a bounded circuit</a:t>
            </a:r>
            <a:endParaRPr lang="en-US" sz="1300" dirty="0"/>
          </a:p>
          <a:p>
            <a:pPr indent="0" marL="0">
              <a:lnSpc>
                <a:spcPct val="130000"/>
              </a:lnSpc>
              <a:buNone/>
            </a:pPr>
            <a:r>
              <a:rPr lang="en-US" sz="1300" i="1" dirty="0">
                <a:solidFill>
                  <a:srgbClr val="C99A2E"/>
                </a:solidFill>
                <a:latin typeface="Consolas" pitchFamily="34" charset="0"/>
                <a:ea typeface="Consolas" pitchFamily="34" charset="-122"/>
                <a:cs typeface="Consolas" pitchFamily="34" charset="-120"/>
              </a:rPr>
              <a:t>(a fixed-depth computation)</a:t>
            </a:r>
            <a:endParaRPr lang="en-US" sz="1300" dirty="0"/>
          </a:p>
        </p:txBody>
      </p:sp>
      <p:sp>
        <p:nvSpPr>
          <p:cNvPr id="8" name="Text 6"/>
          <p:cNvSpPr txBox="1"/>
          <p:nvPr/>
        </p:nvSpPr>
        <p:spPr>
          <a:xfrm>
            <a:off x="822960" y="3931920"/>
            <a:ext cx="4572000" cy="914400"/>
          </a:xfrm>
          <a:prstGeom prst="rect">
            <a:avLst/>
          </a:prstGeom>
          <a:noFill/>
          <a:ln/>
        </p:spPr>
        <p:txBody>
          <a:bodyPr wrap="square" lIns="0" tIns="0" rIns="0" bIns="0" rtlCol="0" anchor="ctr"/>
          <a:lstStyle/>
          <a:p>
            <a:pPr indent="0" marL="0">
              <a:lnSpc>
                <a:spcPct val="125000"/>
              </a:lnSpc>
              <a:buNone/>
            </a:pPr>
            <a:r>
              <a:rPr lang="en-US" sz="1300" dirty="0">
                <a:solidFill>
                  <a:srgbClr val="2B2B33"/>
                </a:solidFill>
                <a:latin typeface="Calibri" pitchFamily="34" charset="0"/>
                <a:ea typeface="Calibri" pitchFamily="34" charset="-122"/>
                <a:cs typeface="Calibri" pitchFamily="34" charset="-120"/>
              </a:rPr>
              <a:t>Reason → Act → Observe → repeat, calling tools (search, code execution, a database) and keeping memory across steps until it decides it's done.</a:t>
            </a:r>
            <a:endParaRPr lang="en-US" sz="1300" dirty="0"/>
          </a:p>
        </p:txBody>
      </p:sp>
      <p:sp>
        <p:nvSpPr>
          <p:cNvPr id="9" name="Shape 7"/>
          <p:cNvSpPr/>
          <p:nvPr/>
        </p:nvSpPr>
        <p:spPr>
          <a:xfrm>
            <a:off x="6492240" y="1600200"/>
            <a:ext cx="5120640" cy="3291840"/>
          </a:xfrm>
          <a:prstGeom prst="roundRect">
            <a:avLst>
              <a:gd name="adj" fmla="val 2778"/>
            </a:avLst>
          </a:prstGeom>
          <a:solidFill>
            <a:srgbClr val="1E2761"/>
          </a:solidFill>
          <a:ln/>
        </p:spPr>
      </p:sp>
      <p:sp>
        <p:nvSpPr>
          <p:cNvPr id="10" name="Text 8"/>
          <p:cNvSpPr txBox="1"/>
          <p:nvPr/>
        </p:nvSpPr>
        <p:spPr>
          <a:xfrm>
            <a:off x="6766560" y="1783080"/>
            <a:ext cx="4572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 agent</a:t>
            </a:r>
            <a:endParaRPr lang="en-US" sz="1500" dirty="0"/>
          </a:p>
        </p:txBody>
      </p:sp>
      <p:sp>
        <p:nvSpPr>
          <p:cNvPr id="11" name="Text 9"/>
          <p:cNvSpPr txBox="1"/>
          <p:nvPr/>
        </p:nvSpPr>
        <p:spPr>
          <a:xfrm>
            <a:off x="6766560" y="2194560"/>
            <a:ext cx="4572000" cy="731520"/>
          </a:xfrm>
          <a:prstGeom prst="rect">
            <a:avLst/>
          </a:prstGeom>
          <a:noFill/>
          <a:ln/>
        </p:spPr>
        <p:txBody>
          <a:bodyPr wrap="square" lIns="0" tIns="0" rIns="0" bIns="0" rtlCol="0" anchor="ctr"/>
          <a:lstStyle/>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Wraps that same bounded LLM in an unbounded loop with read/write memory and tools (ReAct, etc.).</a:t>
            </a:r>
            <a:endParaRPr lang="en-US" sz="1300" dirty="0"/>
          </a:p>
        </p:txBody>
      </p:sp>
      <p:sp>
        <p:nvSpPr>
          <p:cNvPr id="12" name="Text 10"/>
          <p:cNvSpPr txBox="1"/>
          <p:nvPr/>
        </p:nvSpPr>
        <p:spPr>
          <a:xfrm>
            <a:off x="6766560" y="3017520"/>
            <a:ext cx="4572000" cy="731520"/>
          </a:xfrm>
          <a:prstGeom prst="rect">
            <a:avLst/>
          </a:prstGeom>
          <a:noFill/>
          <a:ln/>
        </p:spPr>
        <p:txBody>
          <a:bodyPr wrap="square" lIns="0" tIns="0" rIns="0" bIns="0" rtlCol="0" anchor="ctr"/>
          <a:lstStyle/>
          <a:p>
            <a:pPr indent="0" marL="0">
              <a:lnSpc>
                <a:spcPct val="130000"/>
              </a:lnSpc>
              <a:buNone/>
            </a:pPr>
            <a:r>
              <a:rPr lang="en-US" sz="1300" i="1" dirty="0">
                <a:solidFill>
                  <a:srgbClr val="C99A2E"/>
                </a:solidFill>
                <a:latin typeface="Consolas" pitchFamily="34" charset="0"/>
                <a:ea typeface="Consolas" pitchFamily="34" charset="-122"/>
                <a:cs typeface="Consolas" pitchFamily="34" charset="-120"/>
              </a:rPr>
              <a:t>≈ a Turing machine</a:t>
            </a:r>
            <a:endParaRPr lang="en-US" sz="1300" dirty="0"/>
          </a:p>
          <a:p>
            <a:pPr indent="0" marL="0">
              <a:lnSpc>
                <a:spcPct val="130000"/>
              </a:lnSpc>
              <a:buNone/>
            </a:pPr>
            <a:r>
              <a:rPr lang="en-US" sz="1300" i="1" dirty="0">
                <a:solidFill>
                  <a:srgbClr val="C99A2E"/>
                </a:solidFill>
                <a:latin typeface="Consolas" pitchFamily="34" charset="0"/>
                <a:ea typeface="Consolas" pitchFamily="34" charset="-122"/>
                <a:cs typeface="Consolas" pitchFamily="34" charset="-120"/>
              </a:rPr>
              <a:t>(or an oracle TM, once tool calls are involved)</a:t>
            </a:r>
            <a:endParaRPr lang="en-US" sz="1300" dirty="0"/>
          </a:p>
        </p:txBody>
      </p:sp>
      <p:sp>
        <p:nvSpPr>
          <p:cNvPr id="13" name="Text 11"/>
          <p:cNvSpPr txBox="1"/>
          <p:nvPr/>
        </p:nvSpPr>
        <p:spPr>
          <a:xfrm>
            <a:off x="6766560" y="3931920"/>
            <a:ext cx="4572000" cy="914400"/>
          </a:xfrm>
          <a:prstGeom prst="rect">
            <a:avLst/>
          </a:prstGeom>
          <a:noFill/>
          <a:ln/>
        </p:spPr>
        <p:txBody>
          <a:bodyPr wrap="square" lIns="0" tIns="0" rIns="0" bIns="0" rtlCol="0" anchor="ctr"/>
          <a:lstStyle/>
          <a:p>
            <a:pPr indent="0" marL="0">
              <a:lnSpc>
                <a:spcPct val="125000"/>
              </a:lnSpc>
              <a:buNone/>
            </a:pPr>
            <a:r>
              <a:rPr lang="en-US" sz="1300" i="1" dirty="0">
                <a:solidFill>
                  <a:srgbClr val="CADCFC"/>
                </a:solidFill>
                <a:latin typeface="Calibri" pitchFamily="34" charset="0"/>
                <a:ea typeface="Calibri" pitchFamily="34" charset="-122"/>
                <a:cs typeface="Calibri" pitchFamily="34" charset="-120"/>
              </a:rPr>
              <a:t>A tool call is literally an oracle query — Week 10's oracle-machine definitions, instantiated with a real system.</a:t>
            </a:r>
            <a:endParaRPr lang="en-US" sz="1300" dirty="0"/>
          </a:p>
        </p:txBody>
      </p:sp>
      <p:sp>
        <p:nvSpPr>
          <p:cNvPr id="14" name="Shape 12"/>
          <p:cNvSpPr/>
          <p:nvPr/>
        </p:nvSpPr>
        <p:spPr>
          <a:xfrm>
            <a:off x="548640" y="5074920"/>
            <a:ext cx="11091672" cy="1371600"/>
          </a:xfrm>
          <a:prstGeom prst="roundRect">
            <a:avLst>
              <a:gd name="adj" fmla="val 6667"/>
            </a:avLst>
          </a:prstGeom>
          <a:solidFill>
            <a:srgbClr val="FBF3DF"/>
          </a:solidFill>
          <a:ln w="12700">
            <a:solidFill>
              <a:srgbClr val="C99A2E"/>
            </a:solidFill>
            <a:prstDash val="solid"/>
          </a:ln>
        </p:spPr>
      </p:sp>
      <p:sp>
        <p:nvSpPr>
          <p:cNvPr id="15" name="Text 13"/>
          <p:cNvSpPr txBox="1"/>
          <p:nvPr/>
        </p:nvSpPr>
        <p:spPr>
          <a:xfrm>
            <a:off x="822960" y="5166360"/>
            <a:ext cx="10543032" cy="1188720"/>
          </a:xfrm>
          <a:prstGeom prst="rect">
            <a:avLst/>
          </a:prstGeom>
          <a:noFill/>
          <a:ln/>
        </p:spPr>
        <p:txBody>
          <a:bodyPr wrap="square" lIns="0" tIns="0" rIns="0" bIns="0" rtlCol="0" anchor="ctr"/>
          <a:lstStyle/>
          <a:p>
            <a:pPr indent="0" marL="0">
              <a:lnSpc>
                <a:spcPct val="120000"/>
              </a:lnSpc>
              <a:buNone/>
            </a:pPr>
            <a:r>
              <a:rPr lang="en-US" sz="1100" b="1" dirty="0">
                <a:solidFill>
                  <a:srgbClr val="C99A2E"/>
                </a:solidFill>
                <a:latin typeface="Calibri" pitchFamily="34" charset="0"/>
                <a:ea typeface="Calibri" pitchFamily="34" charset="-122"/>
                <a:cs typeface="Calibri" pitchFamily="34" charset="-120"/>
              </a:rPr>
              <a:t>COURSE CONNECTION   </a:t>
            </a:r>
            <a:endParaRPr lang="en-US" sz="1100" dirty="0"/>
          </a:p>
          <a:p>
            <a:pPr indent="0" marL="0">
              <a:lnSpc>
                <a:spcPct val="120000"/>
              </a:lnSpc>
              <a:buNone/>
            </a:pPr>
            <a:r>
              <a:rPr lang="en-US" sz="1350" i="1" dirty="0">
                <a:solidFill>
                  <a:srgbClr val="5C4A0A"/>
                </a:solidFill>
                <a:latin typeface="Calibri" pitchFamily="34" charset="0"/>
                <a:ea typeface="Calibri" pitchFamily="34" charset="-122"/>
                <a:cs typeface="Calibri" pitchFamily="34" charset="-120"/>
              </a:rPr>
              <a:t>Because an agent is (an oracle) Turing machine, "will this agent's loop ever stop?" is a real instance of the Halting Problem — not a metaphor. That's exactly why every production agent framework hard-codes iteration limits and timeouts. Full treatment in Week 10 and Week 13.</a:t>
            </a:r>
            <a:endParaRPr lang="en-US" sz="1100" dirty="0"/>
          </a:p>
        </p:txBody>
      </p:sp>
      <p:sp>
        <p:nvSpPr>
          <p:cNvPr id="16" name="Text 14"/>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49"/>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PROVABLE LIMITS</a:t>
            </a:r>
            <a:endParaRPr lang="en-US" sz="1300" dirty="0"/>
          </a:p>
        </p:txBody>
      </p:sp>
      <p:sp>
        <p:nvSpPr>
          <p:cNvPr id="3" name="Text 1"/>
          <p:cNvSpPr txBox="1"/>
          <p:nvPr/>
        </p:nvSpPr>
        <p:spPr>
          <a:xfrm>
            <a:off x="548640" y="457200"/>
            <a:ext cx="11091672" cy="8229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What theory says LLMs structurally struggle with</a:t>
            </a:r>
            <a:endParaRPr lang="en-US" sz="2700" dirty="0"/>
          </a:p>
        </p:txBody>
      </p:sp>
      <p:sp>
        <p:nvSpPr>
          <p:cNvPr id="4" name="Shape 2"/>
          <p:cNvSpPr/>
          <p:nvPr/>
        </p:nvSpPr>
        <p:spPr>
          <a:xfrm>
            <a:off x="548640" y="1508760"/>
            <a:ext cx="11091672" cy="960120"/>
          </a:xfrm>
          <a:prstGeom prst="roundRect">
            <a:avLst>
              <a:gd name="adj" fmla="val 7619"/>
            </a:avLst>
          </a:prstGeom>
          <a:solidFill>
            <a:srgbClr val="232B63"/>
          </a:solidFill>
          <a:ln/>
        </p:spPr>
      </p:sp>
      <p:sp>
        <p:nvSpPr>
          <p:cNvPr id="5" name="Text 3"/>
          <p:cNvSpPr txBox="1"/>
          <p:nvPr/>
        </p:nvSpPr>
        <p:spPr>
          <a:xfrm>
            <a:off x="777240" y="1508760"/>
            <a:ext cx="3108960" cy="960120"/>
          </a:xfrm>
          <a:prstGeom prst="rect">
            <a:avLst/>
          </a:prstGeom>
          <a:noFill/>
          <a:ln/>
        </p:spPr>
        <p:txBody>
          <a:bodyPr wrap="square" lIns="0" tIns="0" rIns="0" bIns="0" rtlCol="0" anchor="ctr"/>
          <a:lstStyle/>
          <a:p>
            <a:pPr indent="0" marL="0">
              <a:lnSpc>
                <a:spcPct val="110000"/>
              </a:lnSpc>
              <a:buNone/>
            </a:pPr>
            <a:r>
              <a:rPr lang="en-US" sz="1500" b="1" dirty="0">
                <a:solidFill>
                  <a:srgbClr val="C99A2E"/>
                </a:solidFill>
                <a:latin typeface="Cambria" pitchFamily="34" charset="0"/>
                <a:ea typeface="Cambria" pitchFamily="34" charset="-122"/>
                <a:cs typeface="Cambria" pitchFamily="34" charset="-120"/>
              </a:rPr>
              <a:t>Compositional arithmetic</a:t>
            </a:r>
            <a:endParaRPr lang="en-US" sz="1500" dirty="0"/>
          </a:p>
        </p:txBody>
      </p:sp>
      <p:sp>
        <p:nvSpPr>
          <p:cNvPr id="6" name="Text 4"/>
          <p:cNvSpPr txBox="1"/>
          <p:nvPr/>
        </p:nvSpPr>
        <p:spPr>
          <a:xfrm>
            <a:off x="4023360" y="1508760"/>
            <a:ext cx="5120640" cy="96012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Multi-digit multiplication reduces to a hard computation-graph problem.</a:t>
            </a:r>
            <a:endParaRPr lang="en-US" sz="1250" dirty="0"/>
          </a:p>
        </p:txBody>
      </p:sp>
      <p:sp>
        <p:nvSpPr>
          <p:cNvPr id="7" name="Text 5"/>
          <p:cNvSpPr txBox="1"/>
          <p:nvPr/>
        </p:nvSpPr>
        <p:spPr>
          <a:xfrm>
            <a:off x="9235440" y="1508760"/>
            <a:ext cx="1737360" cy="502920"/>
          </a:xfrm>
          <a:prstGeom prst="rect">
            <a:avLst/>
          </a:prstGeom>
          <a:noFill/>
          <a:ln/>
        </p:spPr>
        <p:txBody>
          <a:bodyPr wrap="square" lIns="0" tIns="0" rIns="0" bIns="0" rtlCol="0" anchor="b"/>
          <a:lstStyle/>
          <a:p>
            <a:pPr indent="0" marL="0">
              <a:lnSpc>
                <a:spcPct val="110000"/>
              </a:lnSpc>
              <a:buNone/>
            </a:pPr>
            <a:r>
              <a:rPr lang="en-US" sz="1050" i="1" dirty="0">
                <a:solidFill>
                  <a:srgbClr val="9AA5D6"/>
                </a:solidFill>
                <a:latin typeface="Calibri" pitchFamily="34" charset="0"/>
                <a:ea typeface="Calibri" pitchFamily="34" charset="-122"/>
                <a:cs typeface="Calibri" pitchFamily="34" charset="-120"/>
              </a:rPr>
              <a:t>Faith and Fate — Dziri et al. 2023</a:t>
            </a:r>
            <a:endParaRPr lang="en-US" sz="1050" dirty="0"/>
          </a:p>
        </p:txBody>
      </p:sp>
      <p:sp>
        <p:nvSpPr>
          <p:cNvPr id="8" name="Text 6"/>
          <p:cNvSpPr txBox="1"/>
          <p:nvPr/>
        </p:nvSpPr>
        <p:spPr>
          <a:xfrm>
            <a:off x="9235440" y="2011680"/>
            <a:ext cx="1737360" cy="411480"/>
          </a:xfrm>
          <a:prstGeom prst="rect">
            <a:avLst/>
          </a:prstGeom>
          <a:noFill/>
          <a:ln/>
        </p:spPr>
        <p:txBody>
          <a:bodyPr wrap="square" lIns="0" tIns="0" rIns="0" bIns="0" rtlCol="0" anchor="t"/>
          <a:lstStyle/>
          <a:p>
            <a:pPr indent="0" marL="0">
              <a:buNone/>
            </a:pPr>
            <a:r>
              <a:rPr lang="en-US" sz="1300" b="1" dirty="0">
                <a:solidFill>
                  <a:srgbClr val="C99A2E"/>
                </a:solidFill>
                <a:latin typeface="Calibri" pitchFamily="34" charset="0"/>
                <a:ea typeface="Calibri" pitchFamily="34" charset="-122"/>
                <a:cs typeface="Calibri" pitchFamily="34" charset="-120"/>
              </a:rPr>
              <a:t>Wk 14</a:t>
            </a:r>
            <a:endParaRPr lang="en-US" sz="1300" dirty="0"/>
          </a:p>
        </p:txBody>
      </p:sp>
      <p:sp>
        <p:nvSpPr>
          <p:cNvPr id="9" name="Shape 7"/>
          <p:cNvSpPr/>
          <p:nvPr/>
        </p:nvSpPr>
        <p:spPr>
          <a:xfrm>
            <a:off x="548640" y="2606040"/>
            <a:ext cx="11091672" cy="960120"/>
          </a:xfrm>
          <a:prstGeom prst="roundRect">
            <a:avLst>
              <a:gd name="adj" fmla="val 7619"/>
            </a:avLst>
          </a:prstGeom>
          <a:solidFill>
            <a:srgbClr val="232B63"/>
          </a:solidFill>
          <a:ln/>
        </p:spPr>
      </p:sp>
      <p:sp>
        <p:nvSpPr>
          <p:cNvPr id="10" name="Text 8"/>
          <p:cNvSpPr txBox="1"/>
          <p:nvPr/>
        </p:nvSpPr>
        <p:spPr>
          <a:xfrm>
            <a:off x="777240" y="2606040"/>
            <a:ext cx="3108960" cy="960120"/>
          </a:xfrm>
          <a:prstGeom prst="rect">
            <a:avLst/>
          </a:prstGeom>
          <a:noFill/>
          <a:ln/>
        </p:spPr>
        <p:txBody>
          <a:bodyPr wrap="square" lIns="0" tIns="0" rIns="0" bIns="0" rtlCol="0" anchor="ctr"/>
          <a:lstStyle/>
          <a:p>
            <a:pPr indent="0" marL="0">
              <a:lnSpc>
                <a:spcPct val="110000"/>
              </a:lnSpc>
              <a:buNone/>
            </a:pPr>
            <a:r>
              <a:rPr lang="en-US" sz="1500" b="1" dirty="0">
                <a:solidFill>
                  <a:srgbClr val="C99A2E"/>
                </a:solidFill>
                <a:latin typeface="Cambria" pitchFamily="34" charset="0"/>
                <a:ea typeface="Cambria" pitchFamily="34" charset="-122"/>
                <a:cs typeface="Cambria" pitchFamily="34" charset="-120"/>
              </a:rPr>
              <a:t>A fixed forward pass's power</a:t>
            </a:r>
            <a:endParaRPr lang="en-US" sz="1500" dirty="0"/>
          </a:p>
        </p:txBody>
      </p:sp>
      <p:sp>
        <p:nvSpPr>
          <p:cNvPr id="11" name="Text 9"/>
          <p:cNvSpPr txBox="1"/>
          <p:nvPr/>
        </p:nvSpPr>
        <p:spPr>
          <a:xfrm>
            <a:off x="4023360" y="2606040"/>
            <a:ext cx="5120640" cy="96012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Log-precision transformers sit in uniform-TC⁰ — a precise ceiling.</a:t>
            </a:r>
            <a:endParaRPr lang="en-US" sz="1250" dirty="0"/>
          </a:p>
        </p:txBody>
      </p:sp>
      <p:sp>
        <p:nvSpPr>
          <p:cNvPr id="12" name="Text 10"/>
          <p:cNvSpPr txBox="1"/>
          <p:nvPr/>
        </p:nvSpPr>
        <p:spPr>
          <a:xfrm>
            <a:off x="9235440" y="2606040"/>
            <a:ext cx="1737360" cy="502920"/>
          </a:xfrm>
          <a:prstGeom prst="rect">
            <a:avLst/>
          </a:prstGeom>
          <a:noFill/>
          <a:ln/>
        </p:spPr>
        <p:txBody>
          <a:bodyPr wrap="square" lIns="0" tIns="0" rIns="0" bIns="0" rtlCol="0" anchor="b"/>
          <a:lstStyle/>
          <a:p>
            <a:pPr indent="0" marL="0">
              <a:lnSpc>
                <a:spcPct val="110000"/>
              </a:lnSpc>
              <a:buNone/>
            </a:pPr>
            <a:r>
              <a:rPr lang="en-US" sz="1050" i="1" dirty="0">
                <a:solidFill>
                  <a:srgbClr val="9AA5D6"/>
                </a:solidFill>
                <a:latin typeface="Calibri" pitchFamily="34" charset="0"/>
                <a:ea typeface="Calibri" pitchFamily="34" charset="-122"/>
                <a:cs typeface="Calibri" pitchFamily="34" charset="-120"/>
              </a:rPr>
              <a:t>Merrill &amp; Sabharwal 2023</a:t>
            </a:r>
            <a:endParaRPr lang="en-US" sz="1050" dirty="0"/>
          </a:p>
        </p:txBody>
      </p:sp>
      <p:sp>
        <p:nvSpPr>
          <p:cNvPr id="13" name="Text 11"/>
          <p:cNvSpPr txBox="1"/>
          <p:nvPr/>
        </p:nvSpPr>
        <p:spPr>
          <a:xfrm>
            <a:off x="9235440" y="3108960"/>
            <a:ext cx="1737360" cy="411480"/>
          </a:xfrm>
          <a:prstGeom prst="rect">
            <a:avLst/>
          </a:prstGeom>
          <a:noFill/>
          <a:ln/>
        </p:spPr>
        <p:txBody>
          <a:bodyPr wrap="square" lIns="0" tIns="0" rIns="0" bIns="0" rtlCol="0" anchor="t"/>
          <a:lstStyle/>
          <a:p>
            <a:pPr indent="0" marL="0">
              <a:buNone/>
            </a:pPr>
            <a:r>
              <a:rPr lang="en-US" sz="1300" b="1" dirty="0">
                <a:solidFill>
                  <a:srgbClr val="C99A2E"/>
                </a:solidFill>
                <a:latin typeface="Calibri" pitchFamily="34" charset="0"/>
                <a:ea typeface="Calibri" pitchFamily="34" charset="-122"/>
                <a:cs typeface="Calibri" pitchFamily="34" charset="-120"/>
              </a:rPr>
              <a:t>Wk 16</a:t>
            </a:r>
            <a:endParaRPr lang="en-US" sz="1300" dirty="0"/>
          </a:p>
        </p:txBody>
      </p:sp>
      <p:sp>
        <p:nvSpPr>
          <p:cNvPr id="14" name="Shape 12"/>
          <p:cNvSpPr/>
          <p:nvPr/>
        </p:nvSpPr>
        <p:spPr>
          <a:xfrm>
            <a:off x="548640" y="3703320"/>
            <a:ext cx="11091672" cy="960120"/>
          </a:xfrm>
          <a:prstGeom prst="roundRect">
            <a:avLst>
              <a:gd name="adj" fmla="val 7619"/>
            </a:avLst>
          </a:prstGeom>
          <a:solidFill>
            <a:srgbClr val="232B63"/>
          </a:solidFill>
          <a:ln/>
        </p:spPr>
      </p:sp>
      <p:sp>
        <p:nvSpPr>
          <p:cNvPr id="15" name="Text 13"/>
          <p:cNvSpPr txBox="1"/>
          <p:nvPr/>
        </p:nvSpPr>
        <p:spPr>
          <a:xfrm>
            <a:off x="777240" y="3703320"/>
            <a:ext cx="3108960" cy="960120"/>
          </a:xfrm>
          <a:prstGeom prst="rect">
            <a:avLst/>
          </a:prstGeom>
          <a:noFill/>
          <a:ln/>
        </p:spPr>
        <p:txBody>
          <a:bodyPr wrap="square" lIns="0" tIns="0" rIns="0" bIns="0" rtlCol="0" anchor="ctr"/>
          <a:lstStyle/>
          <a:p>
            <a:pPr indent="0" marL="0">
              <a:lnSpc>
                <a:spcPct val="110000"/>
              </a:lnSpc>
              <a:buNone/>
            </a:pPr>
            <a:r>
              <a:rPr lang="en-US" sz="1500" b="1" dirty="0">
                <a:solidFill>
                  <a:srgbClr val="C99A2E"/>
                </a:solidFill>
                <a:latin typeface="Cambria" pitchFamily="34" charset="0"/>
                <a:ea typeface="Cambria" pitchFamily="34" charset="-122"/>
                <a:cs typeface="Cambria" pitchFamily="34" charset="-120"/>
              </a:rPr>
              <a:t>Guaranteed truthfulness</a:t>
            </a:r>
            <a:endParaRPr lang="en-US" sz="1500" dirty="0"/>
          </a:p>
        </p:txBody>
      </p:sp>
      <p:sp>
        <p:nvSpPr>
          <p:cNvPr id="16" name="Text 14"/>
          <p:cNvSpPr txBox="1"/>
          <p:nvPr/>
        </p:nvSpPr>
        <p:spPr>
          <a:xfrm>
            <a:off x="4023360" y="3703320"/>
            <a:ext cx="5120640" cy="96012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A diagonalization argument shows some hallucination is structurally unavoidable.</a:t>
            </a:r>
            <a:endParaRPr lang="en-US" sz="1250" dirty="0"/>
          </a:p>
        </p:txBody>
      </p:sp>
      <p:sp>
        <p:nvSpPr>
          <p:cNvPr id="17" name="Text 15"/>
          <p:cNvSpPr txBox="1"/>
          <p:nvPr/>
        </p:nvSpPr>
        <p:spPr>
          <a:xfrm>
            <a:off x="9235440" y="3703320"/>
            <a:ext cx="1737360" cy="502920"/>
          </a:xfrm>
          <a:prstGeom prst="rect">
            <a:avLst/>
          </a:prstGeom>
          <a:noFill/>
          <a:ln/>
        </p:spPr>
        <p:txBody>
          <a:bodyPr wrap="square" lIns="0" tIns="0" rIns="0" bIns="0" rtlCol="0" anchor="b"/>
          <a:lstStyle/>
          <a:p>
            <a:pPr indent="0" marL="0">
              <a:lnSpc>
                <a:spcPct val="110000"/>
              </a:lnSpc>
              <a:buNone/>
            </a:pPr>
            <a:r>
              <a:rPr lang="en-US" sz="1050" i="1" dirty="0">
                <a:solidFill>
                  <a:srgbClr val="9AA5D6"/>
                </a:solidFill>
                <a:latin typeface="Calibri" pitchFamily="34" charset="0"/>
                <a:ea typeface="Calibri" pitchFamily="34" charset="-122"/>
                <a:cs typeface="Calibri" pitchFamily="34" charset="-120"/>
              </a:rPr>
              <a:t>Xu, Jain &amp; Kankanhalli 2024</a:t>
            </a:r>
            <a:endParaRPr lang="en-US" sz="1050" dirty="0"/>
          </a:p>
        </p:txBody>
      </p:sp>
      <p:sp>
        <p:nvSpPr>
          <p:cNvPr id="18" name="Text 16"/>
          <p:cNvSpPr txBox="1"/>
          <p:nvPr/>
        </p:nvSpPr>
        <p:spPr>
          <a:xfrm>
            <a:off x="9235440" y="4206240"/>
            <a:ext cx="1737360" cy="411480"/>
          </a:xfrm>
          <a:prstGeom prst="rect">
            <a:avLst/>
          </a:prstGeom>
          <a:noFill/>
          <a:ln/>
        </p:spPr>
        <p:txBody>
          <a:bodyPr wrap="square" lIns="0" tIns="0" rIns="0" bIns="0" rtlCol="0" anchor="t"/>
          <a:lstStyle/>
          <a:p>
            <a:pPr indent="0" marL="0">
              <a:buNone/>
            </a:pPr>
            <a:r>
              <a:rPr lang="en-US" sz="1300" b="1" dirty="0">
                <a:solidFill>
                  <a:srgbClr val="C99A2E"/>
                </a:solidFill>
                <a:latin typeface="Calibri" pitchFamily="34" charset="0"/>
                <a:ea typeface="Calibri" pitchFamily="34" charset="-122"/>
                <a:cs typeface="Calibri" pitchFamily="34" charset="-120"/>
              </a:rPr>
              <a:t>Wk 13</a:t>
            </a:r>
            <a:endParaRPr lang="en-US" sz="1300" dirty="0"/>
          </a:p>
        </p:txBody>
      </p:sp>
      <p:sp>
        <p:nvSpPr>
          <p:cNvPr id="19" name="Shape 17"/>
          <p:cNvSpPr/>
          <p:nvPr/>
        </p:nvSpPr>
        <p:spPr>
          <a:xfrm>
            <a:off x="548640" y="4800600"/>
            <a:ext cx="11091672" cy="960120"/>
          </a:xfrm>
          <a:prstGeom prst="roundRect">
            <a:avLst>
              <a:gd name="adj" fmla="val 7619"/>
            </a:avLst>
          </a:prstGeom>
          <a:solidFill>
            <a:srgbClr val="232B63"/>
          </a:solidFill>
          <a:ln/>
        </p:spPr>
      </p:sp>
      <p:sp>
        <p:nvSpPr>
          <p:cNvPr id="20" name="Text 18"/>
          <p:cNvSpPr txBox="1"/>
          <p:nvPr/>
        </p:nvSpPr>
        <p:spPr>
          <a:xfrm>
            <a:off x="777240" y="4800600"/>
            <a:ext cx="3108960" cy="960120"/>
          </a:xfrm>
          <a:prstGeom prst="rect">
            <a:avLst/>
          </a:prstGeom>
          <a:noFill/>
          <a:ln/>
        </p:spPr>
        <p:txBody>
          <a:bodyPr wrap="square" lIns="0" tIns="0" rIns="0" bIns="0" rtlCol="0" anchor="ctr"/>
          <a:lstStyle/>
          <a:p>
            <a:pPr indent="0" marL="0">
              <a:lnSpc>
                <a:spcPct val="110000"/>
              </a:lnSpc>
              <a:buNone/>
            </a:pPr>
            <a:r>
              <a:rPr lang="en-US" sz="1500" b="1" dirty="0">
                <a:solidFill>
                  <a:srgbClr val="C99A2E"/>
                </a:solidFill>
                <a:latin typeface="Cambria" pitchFamily="34" charset="0"/>
                <a:ea typeface="Cambria" pitchFamily="34" charset="-122"/>
                <a:cs typeface="Cambria" pitchFamily="34" charset="-120"/>
              </a:rPr>
              <a:t>Hard multi-step planning</a:t>
            </a:r>
            <a:endParaRPr lang="en-US" sz="1500" dirty="0"/>
          </a:p>
        </p:txBody>
      </p:sp>
      <p:sp>
        <p:nvSpPr>
          <p:cNvPr id="21" name="Text 19"/>
          <p:cNvSpPr txBox="1"/>
          <p:nvPr/>
        </p:nvSpPr>
        <p:spPr>
          <a:xfrm>
            <a:off x="4023360" y="4800600"/>
            <a:ext cx="5120640" cy="96012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General planning is PSPACE-complete — agents are heuristics, not guarantees.</a:t>
            </a:r>
            <a:endParaRPr lang="en-US" sz="1250" dirty="0"/>
          </a:p>
        </p:txBody>
      </p:sp>
      <p:sp>
        <p:nvSpPr>
          <p:cNvPr id="22" name="Text 20"/>
          <p:cNvSpPr txBox="1"/>
          <p:nvPr/>
        </p:nvSpPr>
        <p:spPr>
          <a:xfrm>
            <a:off x="9235440" y="4800600"/>
            <a:ext cx="1737360" cy="502920"/>
          </a:xfrm>
          <a:prstGeom prst="rect">
            <a:avLst/>
          </a:prstGeom>
          <a:noFill/>
          <a:ln/>
        </p:spPr>
        <p:txBody>
          <a:bodyPr wrap="square" lIns="0" tIns="0" rIns="0" bIns="0" rtlCol="0" anchor="b"/>
          <a:lstStyle/>
          <a:p>
            <a:pPr indent="0" marL="0">
              <a:lnSpc>
                <a:spcPct val="110000"/>
              </a:lnSpc>
              <a:buNone/>
            </a:pPr>
            <a:r>
              <a:rPr lang="en-US" sz="1050" i="1" dirty="0">
                <a:solidFill>
                  <a:srgbClr val="9AA5D6"/>
                </a:solidFill>
                <a:latin typeface="Calibri" pitchFamily="34" charset="0"/>
                <a:ea typeface="Calibri" pitchFamily="34" charset="-122"/>
                <a:cs typeface="Calibri" pitchFamily="34" charset="-120"/>
              </a:rPr>
              <a:t>Bylander 1991/94; PlanBench 2023</a:t>
            </a:r>
            <a:endParaRPr lang="en-US" sz="1050" dirty="0"/>
          </a:p>
        </p:txBody>
      </p:sp>
      <p:sp>
        <p:nvSpPr>
          <p:cNvPr id="23" name="Text 21"/>
          <p:cNvSpPr txBox="1"/>
          <p:nvPr/>
        </p:nvSpPr>
        <p:spPr>
          <a:xfrm>
            <a:off x="9235440" y="5303520"/>
            <a:ext cx="1737360" cy="411480"/>
          </a:xfrm>
          <a:prstGeom prst="rect">
            <a:avLst/>
          </a:prstGeom>
          <a:noFill/>
          <a:ln/>
        </p:spPr>
        <p:txBody>
          <a:bodyPr wrap="square" lIns="0" tIns="0" rIns="0" bIns="0" rtlCol="0" anchor="t"/>
          <a:lstStyle/>
          <a:p>
            <a:pPr indent="0" marL="0">
              <a:buNone/>
            </a:pPr>
            <a:r>
              <a:rPr lang="en-US" sz="1300" b="1" dirty="0">
                <a:solidFill>
                  <a:srgbClr val="C99A2E"/>
                </a:solidFill>
                <a:latin typeface="Calibri" pitchFamily="34" charset="0"/>
                <a:ea typeface="Calibri" pitchFamily="34" charset="-122"/>
                <a:cs typeface="Calibri" pitchFamily="34" charset="-120"/>
              </a:rPr>
              <a:t>Wk 15</a:t>
            </a:r>
            <a:endParaRPr lang="en-US" sz="1300" dirty="0"/>
          </a:p>
        </p:txBody>
      </p:sp>
      <p:sp>
        <p:nvSpPr>
          <p:cNvPr id="24" name="Text 22"/>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320040"/>
          </a:xfrm>
          <a:prstGeom prst="rect">
            <a:avLst/>
          </a:prstGeom>
          <a:noFill/>
          <a:ln/>
        </p:spPr>
        <p:txBody>
          <a:bodyPr wrap="square" lIns="0" tIns="0" rIns="0" bIns="0" rtlCol="0" anchor="ctr"/>
          <a:lstStyle/>
          <a:p>
            <a:pPr indent="0" marL="0">
              <a:buNone/>
            </a:pPr>
            <a:r>
              <a:rPr lang="en-US" sz="1300" b="1" spc="200" kern="0" dirty="0">
                <a:solidFill>
                  <a:srgbClr val="C99A2E"/>
                </a:solidFill>
                <a:latin typeface="Calibri" pitchFamily="34" charset="0"/>
                <a:ea typeface="Calibri" pitchFamily="34" charset="-122"/>
                <a:cs typeface="Calibri" pitchFamily="34" charset="-120"/>
              </a:rPr>
              <a:t>PUTTING IT ALL TOGETHER</a:t>
            </a:r>
            <a:endParaRPr lang="en-US" sz="13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The full map: LLM pipeline ↔ this course</a:t>
            </a:r>
            <a:endParaRPr lang="en-US" sz="3200" dirty="0"/>
          </a:p>
        </p:txBody>
      </p:sp>
      <p:sp>
        <p:nvSpPr>
          <p:cNvPr id="4" name="Text 2"/>
          <p:cNvSpPr txBox="1"/>
          <p:nvPr/>
        </p:nvSpPr>
        <p:spPr>
          <a:xfrm>
            <a:off x="548640" y="1188720"/>
            <a:ext cx="420624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LLM PIPELINE STAGE</a:t>
            </a:r>
            <a:endParaRPr lang="en-US" sz="1100" dirty="0"/>
          </a:p>
        </p:txBody>
      </p:sp>
      <p:sp>
        <p:nvSpPr>
          <p:cNvPr id="5" name="Text 3"/>
          <p:cNvSpPr txBox="1"/>
          <p:nvPr/>
        </p:nvSpPr>
        <p:spPr>
          <a:xfrm>
            <a:off x="4937760" y="1188720"/>
            <a:ext cx="530352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COURSE CONCEPT</a:t>
            </a:r>
            <a:endParaRPr lang="en-US" sz="1100" dirty="0"/>
          </a:p>
        </p:txBody>
      </p:sp>
      <p:sp>
        <p:nvSpPr>
          <p:cNvPr id="6" name="Text 4"/>
          <p:cNvSpPr txBox="1"/>
          <p:nvPr/>
        </p:nvSpPr>
        <p:spPr>
          <a:xfrm>
            <a:off x="10424160" y="1188720"/>
            <a:ext cx="118872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WEEK(S)</a:t>
            </a:r>
            <a:endParaRPr lang="en-US" sz="1100" dirty="0"/>
          </a:p>
        </p:txBody>
      </p:sp>
      <p:sp>
        <p:nvSpPr>
          <p:cNvPr id="7" name="Shape 5"/>
          <p:cNvSpPr/>
          <p:nvPr/>
        </p:nvSpPr>
        <p:spPr>
          <a:xfrm>
            <a:off x="548640" y="1554480"/>
            <a:ext cx="11091672" cy="530352"/>
          </a:xfrm>
          <a:prstGeom prst="rect">
            <a:avLst/>
          </a:prstGeom>
          <a:solidFill>
            <a:srgbClr val="F7F8FC"/>
          </a:solidFill>
          <a:ln/>
        </p:spPr>
      </p:sp>
      <p:sp>
        <p:nvSpPr>
          <p:cNvPr id="8" name="Shape 6"/>
          <p:cNvSpPr/>
          <p:nvPr/>
        </p:nvSpPr>
        <p:spPr>
          <a:xfrm>
            <a:off x="548640" y="1554480"/>
            <a:ext cx="54864" cy="530352"/>
          </a:xfrm>
          <a:prstGeom prst="rect">
            <a:avLst/>
          </a:prstGeom>
          <a:solidFill>
            <a:srgbClr val="1E2761"/>
          </a:solidFill>
          <a:ln/>
        </p:spPr>
      </p:sp>
      <p:sp>
        <p:nvSpPr>
          <p:cNvPr id="9" name="Text 7"/>
          <p:cNvSpPr txBox="1"/>
          <p:nvPr/>
        </p:nvSpPr>
        <p:spPr>
          <a:xfrm>
            <a:off x="777240" y="1554480"/>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Tokenization</a:t>
            </a:r>
            <a:endParaRPr lang="en-US" sz="1300" dirty="0"/>
          </a:p>
        </p:txBody>
      </p:sp>
      <p:sp>
        <p:nvSpPr>
          <p:cNvPr id="10" name="Text 8"/>
          <p:cNvSpPr txBox="1"/>
          <p:nvPr/>
        </p:nvSpPr>
        <p:spPr>
          <a:xfrm>
            <a:off x="4937760" y="1554480"/>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Alphabets &amp; Regular Expressions</a:t>
            </a:r>
            <a:endParaRPr lang="en-US" sz="1250" dirty="0"/>
          </a:p>
        </p:txBody>
      </p:sp>
      <p:sp>
        <p:nvSpPr>
          <p:cNvPr id="11" name="Text 9"/>
          <p:cNvSpPr txBox="1"/>
          <p:nvPr/>
        </p:nvSpPr>
        <p:spPr>
          <a:xfrm>
            <a:off x="10424160" y="1554480"/>
            <a:ext cx="118872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1–2</a:t>
            </a:r>
            <a:endParaRPr lang="en-US" sz="1300" dirty="0"/>
          </a:p>
        </p:txBody>
      </p:sp>
      <p:sp>
        <p:nvSpPr>
          <p:cNvPr id="12" name="Shape 10"/>
          <p:cNvSpPr/>
          <p:nvPr/>
        </p:nvSpPr>
        <p:spPr>
          <a:xfrm>
            <a:off x="548640" y="2084832"/>
            <a:ext cx="54864" cy="530352"/>
          </a:xfrm>
          <a:prstGeom prst="rect">
            <a:avLst/>
          </a:prstGeom>
          <a:solidFill>
            <a:srgbClr val="5C68BC"/>
          </a:solidFill>
          <a:ln/>
        </p:spPr>
      </p:sp>
      <p:sp>
        <p:nvSpPr>
          <p:cNvPr id="13" name="Text 11"/>
          <p:cNvSpPr txBox="1"/>
          <p:nvPr/>
        </p:nvSpPr>
        <p:spPr>
          <a:xfrm>
            <a:off x="777240" y="2084832"/>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Attention / Transformer</a:t>
            </a:r>
            <a:endParaRPr lang="en-US" sz="1300" dirty="0"/>
          </a:p>
        </p:txBody>
      </p:sp>
      <p:sp>
        <p:nvSpPr>
          <p:cNvPr id="14" name="Text 12"/>
          <p:cNvSpPr txBox="1"/>
          <p:nvPr/>
        </p:nvSpPr>
        <p:spPr>
          <a:xfrm>
            <a:off x="4937760" y="2084832"/>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Turing-Completeness, Circuit Complexity (TC⁰)</a:t>
            </a:r>
            <a:endParaRPr lang="en-US" sz="1250" dirty="0"/>
          </a:p>
        </p:txBody>
      </p:sp>
      <p:sp>
        <p:nvSpPr>
          <p:cNvPr id="15" name="Text 13"/>
          <p:cNvSpPr txBox="1"/>
          <p:nvPr/>
        </p:nvSpPr>
        <p:spPr>
          <a:xfrm>
            <a:off x="10424160" y="2084832"/>
            <a:ext cx="1188720" cy="530352"/>
          </a:xfrm>
          <a:prstGeom prst="rect">
            <a:avLst/>
          </a:prstGeom>
          <a:noFill/>
          <a:ln/>
        </p:spPr>
        <p:txBody>
          <a:bodyPr wrap="square" lIns="0" tIns="0" rIns="0" bIns="0" rtlCol="0" anchor="ctr"/>
          <a:lstStyle/>
          <a:p>
            <a:pPr indent="0" marL="0">
              <a:buNone/>
            </a:pPr>
            <a:r>
              <a:rPr lang="en-US" sz="1300" b="1" dirty="0">
                <a:solidFill>
                  <a:srgbClr val="5C68BC"/>
                </a:solidFill>
                <a:latin typeface="Calibri" pitchFamily="34" charset="0"/>
                <a:ea typeface="Calibri" pitchFamily="34" charset="-122"/>
                <a:cs typeface="Calibri" pitchFamily="34" charset="-120"/>
              </a:rPr>
              <a:t>10, 16–17</a:t>
            </a:r>
            <a:endParaRPr lang="en-US" sz="1300" dirty="0"/>
          </a:p>
        </p:txBody>
      </p:sp>
      <p:sp>
        <p:nvSpPr>
          <p:cNvPr id="16" name="Shape 14"/>
          <p:cNvSpPr/>
          <p:nvPr/>
        </p:nvSpPr>
        <p:spPr>
          <a:xfrm>
            <a:off x="548640" y="2615184"/>
            <a:ext cx="11091672" cy="530352"/>
          </a:xfrm>
          <a:prstGeom prst="rect">
            <a:avLst/>
          </a:prstGeom>
          <a:solidFill>
            <a:srgbClr val="F7F8FC"/>
          </a:solidFill>
          <a:ln/>
        </p:spPr>
      </p:sp>
      <p:sp>
        <p:nvSpPr>
          <p:cNvPr id="17" name="Shape 15"/>
          <p:cNvSpPr/>
          <p:nvPr/>
        </p:nvSpPr>
        <p:spPr>
          <a:xfrm>
            <a:off x="548640" y="2615184"/>
            <a:ext cx="54864" cy="530352"/>
          </a:xfrm>
          <a:prstGeom prst="rect">
            <a:avLst/>
          </a:prstGeom>
          <a:solidFill>
            <a:srgbClr val="1E2761"/>
          </a:solidFill>
          <a:ln/>
        </p:spPr>
      </p:sp>
      <p:sp>
        <p:nvSpPr>
          <p:cNvPr id="18" name="Text 16"/>
          <p:cNvSpPr txBox="1"/>
          <p:nvPr/>
        </p:nvSpPr>
        <p:spPr>
          <a:xfrm>
            <a:off x="777240" y="2615184"/>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Autoregressive Generation</a:t>
            </a:r>
            <a:endParaRPr lang="en-US" sz="1300" dirty="0"/>
          </a:p>
        </p:txBody>
      </p:sp>
      <p:sp>
        <p:nvSpPr>
          <p:cNvPr id="19" name="Text 17"/>
          <p:cNvSpPr txBox="1"/>
          <p:nvPr/>
        </p:nvSpPr>
        <p:spPr>
          <a:xfrm>
            <a:off x="4937760" y="2615184"/>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Languages as Subsets of Σ*</a:t>
            </a:r>
            <a:endParaRPr lang="en-US" sz="1250" dirty="0"/>
          </a:p>
        </p:txBody>
      </p:sp>
      <p:sp>
        <p:nvSpPr>
          <p:cNvPr id="20" name="Text 18"/>
          <p:cNvSpPr txBox="1"/>
          <p:nvPr/>
        </p:nvSpPr>
        <p:spPr>
          <a:xfrm>
            <a:off x="10424160" y="2615184"/>
            <a:ext cx="118872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21" name="Shape 19"/>
          <p:cNvSpPr/>
          <p:nvPr/>
        </p:nvSpPr>
        <p:spPr>
          <a:xfrm>
            <a:off x="548640" y="3145536"/>
            <a:ext cx="54864" cy="530352"/>
          </a:xfrm>
          <a:prstGeom prst="rect">
            <a:avLst/>
          </a:prstGeom>
          <a:solidFill>
            <a:srgbClr val="4A2E7A"/>
          </a:solidFill>
          <a:ln/>
        </p:spPr>
      </p:sp>
      <p:sp>
        <p:nvSpPr>
          <p:cNvPr id="22" name="Text 20"/>
          <p:cNvSpPr txBox="1"/>
          <p:nvPr/>
        </p:nvSpPr>
        <p:spPr>
          <a:xfrm>
            <a:off x="777240" y="3145536"/>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Training</a:t>
            </a:r>
            <a:endParaRPr lang="en-US" sz="1300" dirty="0"/>
          </a:p>
        </p:txBody>
      </p:sp>
      <p:sp>
        <p:nvSpPr>
          <p:cNvPr id="23" name="Text 21"/>
          <p:cNvSpPr txBox="1"/>
          <p:nvPr/>
        </p:nvSpPr>
        <p:spPr>
          <a:xfrm>
            <a:off x="4937760" y="3145536"/>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NP-Hardness of Optimization</a:t>
            </a:r>
            <a:endParaRPr lang="en-US" sz="1250" dirty="0"/>
          </a:p>
        </p:txBody>
      </p:sp>
      <p:sp>
        <p:nvSpPr>
          <p:cNvPr id="24" name="Text 22"/>
          <p:cNvSpPr txBox="1"/>
          <p:nvPr/>
        </p:nvSpPr>
        <p:spPr>
          <a:xfrm>
            <a:off x="10424160" y="3145536"/>
            <a:ext cx="1188720" cy="530352"/>
          </a:xfrm>
          <a:prstGeom prst="rect">
            <a:avLst/>
          </a:prstGeom>
          <a:noFill/>
          <a:ln/>
        </p:spPr>
        <p:txBody>
          <a:bodyPr wrap="square" lIns="0" tIns="0" rIns="0" bIns="0" rtlCol="0" anchor="ctr"/>
          <a:lstStyle/>
          <a:p>
            <a:pPr indent="0" marL="0">
              <a:buNone/>
            </a:pPr>
            <a:r>
              <a:rPr lang="en-US" sz="1300" b="1" dirty="0">
                <a:solidFill>
                  <a:srgbClr val="4A2E7A"/>
                </a:solidFill>
                <a:latin typeface="Calibri" pitchFamily="34" charset="0"/>
                <a:ea typeface="Calibri" pitchFamily="34" charset="-122"/>
                <a:cs typeface="Calibri" pitchFamily="34" charset="-120"/>
              </a:rPr>
              <a:t>14</a:t>
            </a:r>
            <a:endParaRPr lang="en-US" sz="1300" dirty="0"/>
          </a:p>
        </p:txBody>
      </p:sp>
      <p:sp>
        <p:nvSpPr>
          <p:cNvPr id="25" name="Shape 23"/>
          <p:cNvSpPr/>
          <p:nvPr/>
        </p:nvSpPr>
        <p:spPr>
          <a:xfrm>
            <a:off x="548640" y="3675888"/>
            <a:ext cx="11091672" cy="530352"/>
          </a:xfrm>
          <a:prstGeom prst="rect">
            <a:avLst/>
          </a:prstGeom>
          <a:solidFill>
            <a:srgbClr val="F7F8FC"/>
          </a:solidFill>
          <a:ln/>
        </p:spPr>
      </p:sp>
      <p:sp>
        <p:nvSpPr>
          <p:cNvPr id="26" name="Shape 24"/>
          <p:cNvSpPr/>
          <p:nvPr/>
        </p:nvSpPr>
        <p:spPr>
          <a:xfrm>
            <a:off x="548640" y="3675888"/>
            <a:ext cx="54864" cy="530352"/>
          </a:xfrm>
          <a:prstGeom prst="rect">
            <a:avLst/>
          </a:prstGeom>
          <a:solidFill>
            <a:srgbClr val="C99A2E"/>
          </a:solidFill>
          <a:ln/>
        </p:spPr>
      </p:sp>
      <p:sp>
        <p:nvSpPr>
          <p:cNvPr id="27" name="Text 25"/>
          <p:cNvSpPr txBox="1"/>
          <p:nvPr/>
        </p:nvSpPr>
        <p:spPr>
          <a:xfrm>
            <a:off x="777240" y="3675888"/>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Constrained Decoding</a:t>
            </a:r>
            <a:endParaRPr lang="en-US" sz="1300" dirty="0"/>
          </a:p>
        </p:txBody>
      </p:sp>
      <p:sp>
        <p:nvSpPr>
          <p:cNvPr id="28" name="Text 26"/>
          <p:cNvSpPr txBox="1"/>
          <p:nvPr/>
        </p:nvSpPr>
        <p:spPr>
          <a:xfrm>
            <a:off x="4937760" y="3675888"/>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Pushdown Automata / CFGs</a:t>
            </a:r>
            <a:endParaRPr lang="en-US" sz="1250" dirty="0"/>
          </a:p>
        </p:txBody>
      </p:sp>
      <p:sp>
        <p:nvSpPr>
          <p:cNvPr id="29" name="Text 27"/>
          <p:cNvSpPr txBox="1"/>
          <p:nvPr/>
        </p:nvSpPr>
        <p:spPr>
          <a:xfrm>
            <a:off x="10424160" y="3675888"/>
            <a:ext cx="1188720" cy="530352"/>
          </a:xfrm>
          <a:prstGeom prst="rect">
            <a:avLst/>
          </a:prstGeom>
          <a:noFill/>
          <a:ln/>
        </p:spPr>
        <p:txBody>
          <a:bodyPr wrap="square" lIns="0" tIns="0" rIns="0" bIns="0" rtlCol="0" anchor="ctr"/>
          <a:lstStyle/>
          <a:p>
            <a:pPr indent="0" marL="0">
              <a:buNone/>
            </a:pPr>
            <a:r>
              <a:rPr lang="en-US" sz="1300" b="1" dirty="0">
                <a:solidFill>
                  <a:srgbClr val="C99A2E"/>
                </a:solidFill>
                <a:latin typeface="Calibri" pitchFamily="34" charset="0"/>
                <a:ea typeface="Calibri" pitchFamily="34" charset="-122"/>
                <a:cs typeface="Calibri" pitchFamily="34" charset="-120"/>
              </a:rPr>
              <a:t>7</a:t>
            </a:r>
            <a:endParaRPr lang="en-US" sz="1300" dirty="0"/>
          </a:p>
        </p:txBody>
      </p:sp>
      <p:sp>
        <p:nvSpPr>
          <p:cNvPr id="30" name="Shape 28"/>
          <p:cNvSpPr/>
          <p:nvPr/>
        </p:nvSpPr>
        <p:spPr>
          <a:xfrm>
            <a:off x="548640" y="4206240"/>
            <a:ext cx="54864" cy="530352"/>
          </a:xfrm>
          <a:prstGeom prst="rect">
            <a:avLst/>
          </a:prstGeom>
          <a:solidFill>
            <a:srgbClr val="4A2E7A"/>
          </a:solidFill>
          <a:ln/>
        </p:spPr>
      </p:sp>
      <p:sp>
        <p:nvSpPr>
          <p:cNvPr id="31" name="Text 29"/>
          <p:cNvSpPr txBox="1"/>
          <p:nvPr/>
        </p:nvSpPr>
        <p:spPr>
          <a:xfrm>
            <a:off x="777240" y="4206240"/>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Agents (tools + loops)</a:t>
            </a:r>
            <a:endParaRPr lang="en-US" sz="1300" dirty="0"/>
          </a:p>
        </p:txBody>
      </p:sp>
      <p:sp>
        <p:nvSpPr>
          <p:cNvPr id="32" name="Text 30"/>
          <p:cNvSpPr txBox="1"/>
          <p:nvPr/>
        </p:nvSpPr>
        <p:spPr>
          <a:xfrm>
            <a:off x="4937760" y="4206240"/>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Oracle Machines, the Halting Problem</a:t>
            </a:r>
            <a:endParaRPr lang="en-US" sz="1250" dirty="0"/>
          </a:p>
        </p:txBody>
      </p:sp>
      <p:sp>
        <p:nvSpPr>
          <p:cNvPr id="33" name="Text 31"/>
          <p:cNvSpPr txBox="1"/>
          <p:nvPr/>
        </p:nvSpPr>
        <p:spPr>
          <a:xfrm>
            <a:off x="10424160" y="4206240"/>
            <a:ext cx="1188720" cy="530352"/>
          </a:xfrm>
          <a:prstGeom prst="rect">
            <a:avLst/>
          </a:prstGeom>
          <a:noFill/>
          <a:ln/>
        </p:spPr>
        <p:txBody>
          <a:bodyPr wrap="square" lIns="0" tIns="0" rIns="0" bIns="0" rtlCol="0" anchor="ctr"/>
          <a:lstStyle/>
          <a:p>
            <a:pPr indent="0" marL="0">
              <a:buNone/>
            </a:pPr>
            <a:r>
              <a:rPr lang="en-US" sz="1300" b="1" dirty="0">
                <a:solidFill>
                  <a:srgbClr val="4A2E7A"/>
                </a:solidFill>
                <a:latin typeface="Calibri" pitchFamily="34" charset="0"/>
                <a:ea typeface="Calibri" pitchFamily="34" charset="-122"/>
                <a:cs typeface="Calibri" pitchFamily="34" charset="-120"/>
              </a:rPr>
              <a:t>10, 13</a:t>
            </a:r>
            <a:endParaRPr lang="en-US" sz="1300" dirty="0"/>
          </a:p>
        </p:txBody>
      </p:sp>
      <p:sp>
        <p:nvSpPr>
          <p:cNvPr id="34" name="Shape 32"/>
          <p:cNvSpPr/>
          <p:nvPr/>
        </p:nvSpPr>
        <p:spPr>
          <a:xfrm>
            <a:off x="548640" y="4736592"/>
            <a:ext cx="11091672" cy="530352"/>
          </a:xfrm>
          <a:prstGeom prst="rect">
            <a:avLst/>
          </a:prstGeom>
          <a:solidFill>
            <a:srgbClr val="F7F8FC"/>
          </a:solidFill>
          <a:ln/>
        </p:spPr>
      </p:sp>
      <p:sp>
        <p:nvSpPr>
          <p:cNvPr id="35" name="Shape 33"/>
          <p:cNvSpPr/>
          <p:nvPr/>
        </p:nvSpPr>
        <p:spPr>
          <a:xfrm>
            <a:off x="548640" y="4736592"/>
            <a:ext cx="54864" cy="530352"/>
          </a:xfrm>
          <a:prstGeom prst="rect">
            <a:avLst/>
          </a:prstGeom>
          <a:solidFill>
            <a:srgbClr val="7A2E4A"/>
          </a:solidFill>
          <a:ln/>
        </p:spPr>
      </p:sp>
      <p:sp>
        <p:nvSpPr>
          <p:cNvPr id="36" name="Text 34"/>
          <p:cNvSpPr txBox="1"/>
          <p:nvPr/>
        </p:nvSpPr>
        <p:spPr>
          <a:xfrm>
            <a:off x="777240" y="4736592"/>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Hallucination</a:t>
            </a:r>
            <a:endParaRPr lang="en-US" sz="1300" dirty="0"/>
          </a:p>
        </p:txBody>
      </p:sp>
      <p:sp>
        <p:nvSpPr>
          <p:cNvPr id="37" name="Text 35"/>
          <p:cNvSpPr txBox="1"/>
          <p:nvPr/>
        </p:nvSpPr>
        <p:spPr>
          <a:xfrm>
            <a:off x="4937760" y="4736592"/>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Undecidability, Diagonalization</a:t>
            </a:r>
            <a:endParaRPr lang="en-US" sz="1250" dirty="0"/>
          </a:p>
        </p:txBody>
      </p:sp>
      <p:sp>
        <p:nvSpPr>
          <p:cNvPr id="38" name="Text 36"/>
          <p:cNvSpPr txBox="1"/>
          <p:nvPr/>
        </p:nvSpPr>
        <p:spPr>
          <a:xfrm>
            <a:off x="10424160" y="4736592"/>
            <a:ext cx="1188720" cy="530352"/>
          </a:xfrm>
          <a:prstGeom prst="rect">
            <a:avLst/>
          </a:prstGeom>
          <a:noFill/>
          <a:ln/>
        </p:spPr>
        <p:txBody>
          <a:bodyPr wrap="square" lIns="0" tIns="0" rIns="0" bIns="0" rtlCol="0" anchor="ctr"/>
          <a:lstStyle/>
          <a:p>
            <a:pPr indent="0" marL="0">
              <a:buNone/>
            </a:pPr>
            <a:r>
              <a:rPr lang="en-US" sz="1300" b="1" dirty="0">
                <a:solidFill>
                  <a:srgbClr val="7A2E4A"/>
                </a:solidFill>
                <a:latin typeface="Calibri" pitchFamily="34" charset="0"/>
                <a:ea typeface="Calibri" pitchFamily="34" charset="-122"/>
                <a:cs typeface="Calibri" pitchFamily="34" charset="-120"/>
              </a:rPr>
              <a:t>13</a:t>
            </a:r>
            <a:endParaRPr lang="en-US" sz="1300" dirty="0"/>
          </a:p>
        </p:txBody>
      </p:sp>
      <p:sp>
        <p:nvSpPr>
          <p:cNvPr id="39" name="Shape 37"/>
          <p:cNvSpPr/>
          <p:nvPr/>
        </p:nvSpPr>
        <p:spPr>
          <a:xfrm>
            <a:off x="548640" y="5266944"/>
            <a:ext cx="54864" cy="530352"/>
          </a:xfrm>
          <a:prstGeom prst="rect">
            <a:avLst/>
          </a:prstGeom>
          <a:solidFill>
            <a:srgbClr val="7A2E4A"/>
          </a:solidFill>
          <a:ln/>
        </p:spPr>
      </p:sp>
      <p:sp>
        <p:nvSpPr>
          <p:cNvPr id="40" name="Text 38"/>
          <p:cNvSpPr txBox="1"/>
          <p:nvPr/>
        </p:nvSpPr>
        <p:spPr>
          <a:xfrm>
            <a:off x="777240" y="5266944"/>
            <a:ext cx="40233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Multi-step Reasoning</a:t>
            </a:r>
            <a:endParaRPr lang="en-US" sz="1300" dirty="0"/>
          </a:p>
        </p:txBody>
      </p:sp>
      <p:sp>
        <p:nvSpPr>
          <p:cNvPr id="41" name="Text 39"/>
          <p:cNvSpPr txBox="1"/>
          <p:nvPr/>
        </p:nvSpPr>
        <p:spPr>
          <a:xfrm>
            <a:off x="4937760" y="5266944"/>
            <a:ext cx="5303520" cy="530352"/>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PSPACE / NP-Completeness</a:t>
            </a:r>
            <a:endParaRPr lang="en-US" sz="1250" dirty="0"/>
          </a:p>
        </p:txBody>
      </p:sp>
      <p:sp>
        <p:nvSpPr>
          <p:cNvPr id="42" name="Text 40"/>
          <p:cNvSpPr txBox="1"/>
          <p:nvPr/>
        </p:nvSpPr>
        <p:spPr>
          <a:xfrm>
            <a:off x="10424160" y="5266944"/>
            <a:ext cx="1188720" cy="530352"/>
          </a:xfrm>
          <a:prstGeom prst="rect">
            <a:avLst/>
          </a:prstGeom>
          <a:noFill/>
          <a:ln/>
        </p:spPr>
        <p:txBody>
          <a:bodyPr wrap="square" lIns="0" tIns="0" rIns="0" bIns="0" rtlCol="0" anchor="ctr"/>
          <a:lstStyle/>
          <a:p>
            <a:pPr indent="0" marL="0">
              <a:buNone/>
            </a:pPr>
            <a:r>
              <a:rPr lang="en-US" sz="1300" b="1" dirty="0">
                <a:solidFill>
                  <a:srgbClr val="7A2E4A"/>
                </a:solidFill>
                <a:latin typeface="Calibri" pitchFamily="34" charset="0"/>
                <a:ea typeface="Calibri" pitchFamily="34" charset="-122"/>
                <a:cs typeface="Calibri" pitchFamily="34" charset="-120"/>
              </a:rPr>
              <a:t>14–17</a:t>
            </a:r>
            <a:endParaRPr lang="en-US" sz="1300" dirty="0"/>
          </a:p>
        </p:txBody>
      </p:sp>
      <p:sp>
        <p:nvSpPr>
          <p:cNvPr id="43" name="Text 41"/>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How LLMs Work &amp; Course Connections  •  CS-850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B49"/>
        </a:solidFill>
      </p:bgPr>
    </p:bg>
    <p:spTree>
      <p:nvGrpSpPr>
        <p:cNvPr id="1" name=""/>
        <p:cNvGrpSpPr/>
        <p:nvPr/>
      </p:nvGrpSpPr>
      <p:grpSpPr>
        <a:xfrm>
          <a:off x="0" y="0"/>
          <a:ext cx="0" cy="0"/>
          <a:chOff x="0" y="0"/>
          <a:chExt cx="0" cy="0"/>
        </a:xfrm>
      </p:grpSpPr>
      <p:sp>
        <p:nvSpPr>
          <p:cNvPr id="2" name="Shape 0"/>
          <p:cNvSpPr/>
          <p:nvPr/>
        </p:nvSpPr>
        <p:spPr>
          <a:xfrm>
            <a:off x="5486400" y="137160"/>
            <a:ext cx="6583680" cy="6583680"/>
          </a:xfrm>
          <a:prstGeom prst="ellipse">
            <a:avLst/>
          </a:prstGeom>
          <a:ln w="19050">
            <a:solidFill>
              <a:srgbClr val="4A56A8"/>
            </a:solidFill>
            <a:prstDash val="solid"/>
          </a:ln>
        </p:spPr>
      </p:sp>
      <p:sp>
        <p:nvSpPr>
          <p:cNvPr id="3" name="Shape 1"/>
          <p:cNvSpPr/>
          <p:nvPr/>
        </p:nvSpPr>
        <p:spPr>
          <a:xfrm>
            <a:off x="6035040" y="685800"/>
            <a:ext cx="5486400" cy="5486400"/>
          </a:xfrm>
          <a:prstGeom prst="ellipse">
            <a:avLst/>
          </a:prstGeom>
          <a:ln w="19050">
            <a:solidFill>
              <a:srgbClr val="5C68BC"/>
            </a:solidFill>
            <a:prstDash val="solid"/>
          </a:ln>
        </p:spPr>
      </p:sp>
      <p:sp>
        <p:nvSpPr>
          <p:cNvPr id="4" name="Shape 2"/>
          <p:cNvSpPr/>
          <p:nvPr/>
        </p:nvSpPr>
        <p:spPr>
          <a:xfrm>
            <a:off x="6583680" y="1234440"/>
            <a:ext cx="4389120" cy="4389120"/>
          </a:xfrm>
          <a:prstGeom prst="ellipse">
            <a:avLst/>
          </a:prstGeom>
          <a:ln w="19050">
            <a:solidFill>
              <a:srgbClr val="7480CE"/>
            </a:solidFill>
            <a:prstDash val="solid"/>
          </a:ln>
        </p:spPr>
      </p:sp>
      <p:sp>
        <p:nvSpPr>
          <p:cNvPr id="5" name="Shape 3"/>
          <p:cNvSpPr/>
          <p:nvPr/>
        </p:nvSpPr>
        <p:spPr>
          <a:xfrm>
            <a:off x="7132320" y="1783080"/>
            <a:ext cx="3291840" cy="3291840"/>
          </a:xfrm>
          <a:prstGeom prst="ellipse">
            <a:avLst/>
          </a:prstGeom>
          <a:ln w="19050">
            <a:solidFill>
              <a:srgbClr val="93A0E0"/>
            </a:solidFill>
            <a:prstDash val="solid"/>
          </a:ln>
        </p:spPr>
      </p:sp>
      <p:sp>
        <p:nvSpPr>
          <p:cNvPr id="6" name="Text 4"/>
          <p:cNvSpPr txBox="1"/>
          <p:nvPr/>
        </p:nvSpPr>
        <p:spPr>
          <a:xfrm>
            <a:off x="731520" y="2651760"/>
            <a:ext cx="82296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Nothing here is a black box.</a:t>
            </a:r>
            <a:endParaRPr lang="en-US" sz="3800" dirty="0"/>
          </a:p>
        </p:txBody>
      </p:sp>
      <p:sp>
        <p:nvSpPr>
          <p:cNvPr id="7" name="Text 5"/>
          <p:cNvSpPr txBox="1"/>
          <p:nvPr/>
        </p:nvSpPr>
        <p:spPr>
          <a:xfrm>
            <a:off x="731520" y="3657600"/>
            <a:ext cx="7589520" cy="822960"/>
          </a:xfrm>
          <a:prstGeom prst="rect">
            <a:avLst/>
          </a:prstGeom>
          <a:noFill/>
          <a:ln/>
        </p:spPr>
        <p:txBody>
          <a:bodyPr wrap="square" lIns="0" tIns="0" rIns="0" bIns="0" rtlCol="0" anchor="ctr"/>
          <a:lstStyle/>
          <a:p>
            <a:pPr indent="0" marL="0">
              <a:lnSpc>
                <a:spcPct val="125000"/>
              </a:lnSpc>
              <a:buNone/>
            </a:pPr>
            <a:r>
              <a:rPr lang="en-US" sz="1700" i="1" dirty="0">
                <a:solidFill>
                  <a:srgbClr val="CADCFC"/>
                </a:solidFill>
                <a:latin typeface="Calibri" pitchFamily="34" charset="0"/>
                <a:ea typeface="Calibri" pitchFamily="34" charset="-122"/>
                <a:cs typeface="Calibri" pitchFamily="34" charset="-120"/>
              </a:rPr>
              <a:t>Every stage of this pipeline is, underneath, a question this course already has the tools to answer precisely.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2026-09-09T06:06:48Z</dcterms:created>
  <dcterms:modified xsi:type="dcterms:W3CDTF">2026-09-09T06:06:48Z</dcterms:modified>
</cp:coreProperties>
</file>