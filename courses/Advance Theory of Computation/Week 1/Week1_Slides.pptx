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37160"/>
            <a:ext cx="6583680" cy="6583680"/>
          </a:xfrm>
          <a:prstGeom prst="ellipse">
            <a:avLst/>
          </a:prstGeom>
          <a:ln w="19050">
            <a:solidFill>
              <a:srgbClr val="4A56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685800"/>
            <a:ext cx="5486400" cy="5486400"/>
          </a:xfrm>
          <a:prstGeom prst="ellipse">
            <a:avLst/>
          </a:prstGeom>
          <a:ln w="19050">
            <a:solidFill>
              <a:srgbClr val="5C68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234440"/>
            <a:ext cx="4389120" cy="4389120"/>
          </a:xfrm>
          <a:prstGeom prst="ellipse">
            <a:avLst/>
          </a:prstGeom>
          <a:ln w="19050">
            <a:solidFill>
              <a:srgbClr val="7480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783080"/>
            <a:ext cx="3291840" cy="3291840"/>
          </a:xfrm>
          <a:prstGeom prst="ellipse">
            <a:avLst/>
          </a:prstGeom>
          <a:ln w="19050">
            <a:solidFill>
              <a:srgbClr val="93A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CS-850  ·  ADVANCED THEORY OF COMPUTATION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1: Why We Still Study This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Age of Generative AI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Theory of Computation  ·  Defining Languages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035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Ayesha Maqbool   ·   Fall 2026   ·   MS-CS (AB)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the full 3-hour block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75304" cy="4343400"/>
          </a:xfrm>
          <a:prstGeom prst="roundRect">
            <a:avLst>
              <a:gd name="adj" fmla="val 2558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3575304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75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9047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5623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&amp; Formal Basics  ·  ~65 min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Open (demo)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346704" y="24688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15′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09067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346704" y="30906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5′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712464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346704" y="371246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15′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334256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Alphabets &amp; Strings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346704" y="43342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15′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956048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Languages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346704" y="49560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06824" y="1417320"/>
            <a:ext cx="3575304" cy="4343400"/>
          </a:xfrm>
          <a:prstGeom prst="roundRect">
            <a:avLst>
              <a:gd name="adj" fmla="val 2558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306824" y="1417320"/>
            <a:ext cx="3575304" cy="914400"/>
          </a:xfrm>
          <a:prstGeom prst="roundRect">
            <a:avLst>
              <a:gd name="adj" fmla="val 10000"/>
            </a:avLst>
          </a:prstGeom>
          <a:solidFill>
            <a:srgbClr val="5C68BC"/>
          </a:solidFill>
          <a:ln/>
        </p:spPr>
      </p:sp>
      <p:sp>
        <p:nvSpPr>
          <p:cNvPr id="21" name="Shape 19"/>
          <p:cNvSpPr/>
          <p:nvPr/>
        </p:nvSpPr>
        <p:spPr>
          <a:xfrm>
            <a:off x="4306824" y="1874520"/>
            <a:ext cx="3575304" cy="457200"/>
          </a:xfrm>
          <a:prstGeom prst="rect">
            <a:avLst/>
          </a:prstGeom>
          <a:solidFill>
            <a:srgbClr val="5C68B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35424" y="149047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185623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Toolkit  ·  ~60 min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35424" y="246888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104888" y="24688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15′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35424" y="309067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&amp; Functions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104888" y="30906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12′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35424" y="3712464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&amp; Trees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104888" y="371246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8′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35424" y="4334256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Logic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104888" y="43342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10′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35424" y="4956048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Operations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104888" y="49560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C6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15′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65008" y="1417320"/>
            <a:ext cx="3575304" cy="4343400"/>
          </a:xfrm>
          <a:prstGeom prst="roundRect">
            <a:avLst>
              <a:gd name="adj" fmla="val 2558"/>
            </a:avLst>
          </a:prstGeom>
          <a:solidFill>
            <a:srgbClr val="F7F8FC"/>
          </a:solidFill>
          <a:ln/>
        </p:spPr>
      </p:sp>
      <p:sp>
        <p:nvSpPr>
          <p:cNvPr id="35" name="Shape 33"/>
          <p:cNvSpPr/>
          <p:nvPr/>
        </p:nvSpPr>
        <p:spPr>
          <a:xfrm>
            <a:off x="8065008" y="1417320"/>
            <a:ext cx="3575304" cy="914400"/>
          </a:xfrm>
          <a:prstGeom prst="roundRect">
            <a:avLst>
              <a:gd name="adj" fmla="val 10000"/>
            </a:avLst>
          </a:prstGeom>
          <a:solidFill>
            <a:srgbClr val="C99A2E"/>
          </a:solidFill>
          <a:ln/>
        </p:spPr>
      </p:sp>
      <p:sp>
        <p:nvSpPr>
          <p:cNvPr id="36" name="Shape 34"/>
          <p:cNvSpPr/>
          <p:nvPr/>
        </p:nvSpPr>
        <p:spPr>
          <a:xfrm>
            <a:off x="8065008" y="1874520"/>
            <a:ext cx="3575304" cy="45720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93608" y="149047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3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293608" y="185623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 &amp; Problems as Languages  ·  ~55 min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93608" y="246888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Proof Techniques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863072" y="24688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18′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93608" y="309067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Worked Example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10863072" y="30906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15′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293608" y="3712464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as Languages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0863072" y="371246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10′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293608" y="4334256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+ Discussion + Wrap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10863072" y="43342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12′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5-minute breaks (after Hour 1 and Hour 2) not shown above.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OPEN — LIVE DEMO, TWO PARTS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model. Same question.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off, then reasoning 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4892040" cy="2331720"/>
          </a:xfrm>
          <a:prstGeom prst="roundRect">
            <a:avLst>
              <a:gd name="adj" fmla="val 3922"/>
            </a:avLst>
          </a:prstGeom>
          <a:solidFill>
            <a:srgbClr val="232B63"/>
          </a:solidFill>
          <a:ln w="12700">
            <a:solidFill>
              <a:srgbClr val="3A46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6974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reasoning OFF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483,927,614 × 719,382,506 = ?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the final number, immediately, no working shown." No calculator, no code tool.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06440" y="2514600"/>
            <a:ext cx="4892040" cy="2331720"/>
          </a:xfrm>
          <a:prstGeom prst="roundRect">
            <a:avLst>
              <a:gd name="adj" fmla="val 3922"/>
            </a:avLst>
          </a:prstGeom>
          <a:solidFill>
            <a:srgbClr val="232B63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26974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reasoning 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question, again.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show your work, step by step, like long multiplication."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0292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7C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Part A succeeds anyway, escalate live — 12 digits, then 15. Somewhere in that range Part A fails while Part B keeps working at any size. That contrast is the point; the exact digit count isn't.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THIS COURSE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about the model changed —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whether it could write out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1091672" cy="2377440"/>
          </a:xfrm>
          <a:prstGeom prst="roundRect">
            <a:avLst>
              <a:gd name="adj" fmla="val 3846"/>
            </a:avLst>
          </a:prstGeom>
          <a:solidFill>
            <a:srgbClr val="FBF3DF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880360"/>
            <a:ext cx="10451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5C4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just watched the same system fail and then succeed at the identical question. That gap between one shot and step-by-step isn't a UI feature — it's a real theorem about what a fixed amount of computation can and can't do. By Week 16, you'll be able to state it formally.”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FIELD, IN THREE QUESTIONS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organizes Theory of Computation?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75304" cy="4297680"/>
          </a:xfrm>
          <a:prstGeom prst="roundRect">
            <a:avLst>
              <a:gd name="adj" fmla="val 2558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575304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357530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64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computer?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automata → PDA → Turing machines → oracle machines.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617720"/>
            <a:ext cx="3118104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75488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echo: is a transformer a "computer"? (Wks 7, 10, 16, 17)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06824" y="1554480"/>
            <a:ext cx="3575304" cy="4297680"/>
          </a:xfrm>
          <a:prstGeom prst="roundRect">
            <a:avLst>
              <a:gd name="adj" fmla="val 2558"/>
            </a:avLst>
          </a:prstGeom>
          <a:solidFill>
            <a:srgbClr val="F7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06824" y="1554480"/>
            <a:ext cx="3575304" cy="822960"/>
          </a:xfrm>
          <a:prstGeom prst="roundRect">
            <a:avLst>
              <a:gd name="adj" fmla="val 11111"/>
            </a:avLst>
          </a:prstGeom>
          <a:solidFill>
            <a:srgbClr val="4A2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4306824" y="1965960"/>
            <a:ext cx="3575304" cy="411480"/>
          </a:xfrm>
          <a:prstGeom prst="rect">
            <a:avLst/>
          </a:prstGeom>
          <a:solidFill>
            <a:srgbClr val="4A2E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35424" y="1664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35424" y="251460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computed at all?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35424" y="333756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Computability, recursive enumerability, undecidability.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35424" y="4617720"/>
            <a:ext cx="3118104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35424" y="475488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echo: will an AI agent's loop ever halt? (Wk 13)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65008" y="1554480"/>
            <a:ext cx="3575304" cy="4297680"/>
          </a:xfrm>
          <a:prstGeom prst="roundRect">
            <a:avLst>
              <a:gd name="adj" fmla="val 2558"/>
            </a:avLst>
          </a:prstGeom>
          <a:solidFill>
            <a:srgbClr val="F7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065008" y="1554480"/>
            <a:ext cx="3575304" cy="822960"/>
          </a:xfrm>
          <a:prstGeom prst="roundRect">
            <a:avLst>
              <a:gd name="adj" fmla="val 11111"/>
            </a:avLst>
          </a:prstGeom>
          <a:solidFill>
            <a:srgbClr val="7A2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8065008" y="1965960"/>
            <a:ext cx="3575304" cy="411480"/>
          </a:xfrm>
          <a:prstGeom prst="rect">
            <a:avLst/>
          </a:prstGeom>
          <a:solidFill>
            <a:srgbClr val="7A2E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3608" y="1664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251460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computed efficiently?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3337560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and NP-completeness.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93608" y="4617720"/>
            <a:ext cx="3118104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3608" y="475488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echo: is LLM reasoning solving a PSPACE-hard problem? (Wks 14–17)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weeks: classical spine, two new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11091672" cy="0"/>
          </a:xfrm>
          <a:prstGeom prst="line">
            <a:avLst/>
          </a:prstGeom>
          <a:noFill/>
          <a:ln w="38100">
            <a:solidFill>
              <a:srgbClr val="D8D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299008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-91440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27432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FA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16227" y="299008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5019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4-6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2139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&amp; PDA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2686" y="2990088"/>
            <a:ext cx="237744" cy="237744"/>
          </a:xfrm>
          <a:prstGeom prst="ellipse">
            <a:avLst/>
          </a:prstGeom>
          <a:solidFill>
            <a:srgbClr val="C99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81478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98598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Module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89145" y="299008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7937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8-9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85057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Machines / Break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75604" y="299008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54396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71516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Variants + Oracles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2063" y="299008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40855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11-12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57975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Computability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48522" y="2990088"/>
            <a:ext cx="237744" cy="237744"/>
          </a:xfrm>
          <a:prstGeom prst="ellipse">
            <a:avLst/>
          </a:prstGeom>
          <a:solidFill>
            <a:srgbClr val="C99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7314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044434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Module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134981" y="2990088"/>
            <a:ext cx="237744" cy="23774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13773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14-16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430893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NP-Complete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1521440" y="2990088"/>
            <a:ext cx="237744" cy="237744"/>
          </a:xfrm>
          <a:prstGeom prst="ellipse">
            <a:avLst/>
          </a:prstGeom>
          <a:solidFill>
            <a:srgbClr val="4A2E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000232" y="2423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817352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Hierarchy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= new integrative modules connecting classical theory directly to current ML / GenAI / agentic-AI research.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Alphabets and strings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892808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finite, non-empty set of symbols.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4414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9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{0,1}     Σ = {a, b, …, z}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310128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 sequence of symbols from Σ.  |w| = length.  ε = empty string.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85876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9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0110,  |w| = 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4348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Σ*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Kleene Star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727448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ALL strings over Σ, including ε — always countably infinite.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27608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9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Σ* = {ε, 0, 1, 00, 01, 10, 11, …}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language is just a subset of Σ*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⊆ Σ*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600200"/>
            <a:ext cx="8074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loose: L can be finite, infinite — even undecidable as a set.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408676" cy="2194560"/>
          </a:xfrm>
          <a:prstGeom prst="roundRect">
            <a:avLst>
              <a:gd name="adj" fmla="val 4167"/>
            </a:avLst>
          </a:prstGeom>
          <a:solidFill>
            <a:srgbClr val="F7F8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L₁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 ∈ {0,1}* : w has an even number of 1s }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 ✓     111 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1636" y="2926080"/>
            <a:ext cx="5408676" cy="2194560"/>
          </a:xfrm>
          <a:prstGeom prst="roundRect">
            <a:avLst>
              <a:gd name="adj" fmla="val 4167"/>
            </a:avLst>
          </a:prstGeom>
          <a:solidFill>
            <a:srgbClr val="F7F8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05956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L₂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05956" y="365760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aⁿbⁿ : n ≥ 0 }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05956" y="45720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aabb ✓     aab ✗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by hand on small strings — it quietly previews the FA-vs-CFG distinction coming in Weeks 2–5.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LENS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an analogy. It's the same object.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TERM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280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EQUIVALENT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232B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Alphabet Σ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3A2F0F"/>
          </a:solidFill>
          <a:ln w="9525">
            <a:solidFill>
              <a:srgbClr val="C99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737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vocabulary (~100K–200K tokens)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2103120"/>
            <a:ext cx="5486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97180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232B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718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in Σ*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35040" y="297180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3A2F0F"/>
          </a:solidFill>
          <a:ln w="9525">
            <a:solidFill>
              <a:srgbClr val="C99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9718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or a completion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0" y="3337560"/>
            <a:ext cx="5486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2062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232B6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062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L ⊆ Σ*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035040" y="4206240"/>
            <a:ext cx="5577840" cy="1005840"/>
          </a:xfrm>
          <a:prstGeom prst="roundRect">
            <a:avLst>
              <a:gd name="adj" fmla="val 7273"/>
            </a:avLst>
          </a:prstGeom>
          <a:solidFill>
            <a:srgbClr val="3A2F0F"/>
          </a:solidFill>
          <a:ln w="9525">
            <a:solidFill>
              <a:srgbClr val="C99A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42062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 JSON" · "Valid Python" · a well-formed sentence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0" y="4572000"/>
            <a:ext cx="5486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Toolkit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Semester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· Relations &amp; Functions · Graphs &amp; Trees · Boolean Logic · Language Operations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MATHEMATICAL TOOLKIT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Sets: notation &amp; operations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5758" cy="1920240"/>
          </a:xfrm>
          <a:prstGeom prst="roundRect">
            <a:avLst>
              <a:gd name="adj" fmla="val 4762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357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∪ B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23614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∈ A or x ∈ 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7278" y="1645920"/>
            <a:ext cx="2635758" cy="1920240"/>
          </a:xfrm>
          <a:prstGeom prst="roundRect">
            <a:avLst>
              <a:gd name="adj" fmla="val 4762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67278" y="1783080"/>
            <a:ext cx="26357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∩ B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04438" y="237744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04438" y="2697480"/>
            <a:ext cx="23614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∈ A and x ∈ 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5916" y="1645920"/>
            <a:ext cx="2635758" cy="1920240"/>
          </a:xfrm>
          <a:prstGeom prst="roundRect">
            <a:avLst>
              <a:gd name="adj" fmla="val 4762"/>
            </a:avLst>
          </a:prstGeom>
          <a:solidFill>
            <a:srgbClr val="F7F8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85916" y="1783080"/>
            <a:ext cx="26357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− B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23076" y="237744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23076" y="2697480"/>
            <a:ext cx="23614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∈ A and x ∉ 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4554" y="1645920"/>
            <a:ext cx="2635758" cy="1920240"/>
          </a:xfrm>
          <a:prstGeom prst="roundRect">
            <a:avLst>
              <a:gd name="adj" fmla="val 4762"/>
            </a:avLst>
          </a:prstGeom>
          <a:solidFill>
            <a:srgbClr val="F7F8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04554" y="1783080"/>
            <a:ext cx="26357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Ā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141714" y="237744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697480"/>
            <a:ext cx="23614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− A  (fixed universe U)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886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product:  A × B = {(a,b) : a∈A, b∈B}   —   pairs are ORDERED: (a,b) ≠ (b,a) unless a = b.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BF3DF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7091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4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set: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C4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= the set of all subsets of A.   Example: A = {0,1} ⇒ P(A) = {∅, {0}, {1}, {0,1}}.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578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fact:  |P(A)| = 2^|A|   — you'll sketch an induction proof of exactly this in Hour 3.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MATHEMATICAL TOOLKIT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Sequences, relations &amp; functions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vs. Sequences:  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{1,2,3} = {3,2,1} = {1,1,2,3}      but      (1,2,3) ≠ (3,2,1) ≠ (1,1,2,3)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08676" cy="2194560"/>
          </a:xfrm>
          <a:prstGeom prst="roundRect">
            <a:avLst>
              <a:gd name="adj" fmla="val 4167"/>
            </a:avLst>
          </a:prstGeom>
          <a:solidFill>
            <a:srgbClr val="F7F8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0896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subset R ⊆ A × B.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relation: reflexive + symmetric + transitive → partitions a set into classes.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2926080"/>
            <a:ext cx="5408676" cy="2194560"/>
          </a:xfrm>
          <a:prstGeom prst="roundRect">
            <a:avLst>
              <a:gd name="adj" fmla="val 4167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5956" y="310896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05956" y="352044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: A → B assigns every a ∈ A exactly one f(a) ∈ B.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05956" y="420624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domain, B = codomain, {f(a)} = range. A function is a relation with unique outputs.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DFA-state classification by "future behavior" (minimization, later this semester) is literally an equivalence relation.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MATHEMATICAL TOOLKIT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Graphs &amp; trees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2084832" y="2176272"/>
            <a:ext cx="1371600" cy="365760"/>
          </a:xfrm>
          <a:prstGeom prst="line">
            <a:avLst/>
          </a:prstGeom>
          <a:noFill/>
          <a:ln w="25400">
            <a:solidFill>
              <a:srgbClr val="AEB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82112" y="2176272"/>
            <a:ext cx="274320" cy="1280160"/>
          </a:xfrm>
          <a:prstGeom prst="line">
            <a:avLst/>
          </a:prstGeom>
          <a:noFill/>
          <a:ln w="25400">
            <a:solidFill>
              <a:srgbClr val="AEB8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7632" y="3456432"/>
            <a:ext cx="1554480" cy="91440"/>
          </a:xfrm>
          <a:prstGeom prst="line">
            <a:avLst/>
          </a:prstGeom>
          <a:noFill/>
          <a:ln w="25400">
            <a:solidFill>
              <a:srgbClr val="AEB8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627632" y="2542032"/>
            <a:ext cx="457200" cy="1005840"/>
          </a:xfrm>
          <a:prstGeom prst="line">
            <a:avLst/>
          </a:prstGeom>
          <a:noFill/>
          <a:ln w="25400">
            <a:solidFill>
              <a:srgbClr val="AEB8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84832" y="2542032"/>
            <a:ext cx="1097280" cy="914400"/>
          </a:xfrm>
          <a:prstGeom prst="line">
            <a:avLst/>
          </a:prstGeom>
          <a:noFill/>
          <a:ln w="25400">
            <a:solidFill>
              <a:srgbClr val="AEB8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2377440"/>
            <a:ext cx="329184" cy="32918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011680"/>
            <a:ext cx="329184" cy="32918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3291840"/>
            <a:ext cx="329184" cy="32918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3383280"/>
            <a:ext cx="329184" cy="329184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graph G=(V,E)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19672" y="2249424"/>
            <a:ext cx="-731520" cy="768096"/>
          </a:xfrm>
          <a:prstGeom prst="line">
            <a:avLst/>
          </a:prstGeom>
          <a:noFill/>
          <a:ln w="25400">
            <a:solidFill>
              <a:srgbClr val="AEB8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9672" y="2249424"/>
            <a:ext cx="0" cy="768096"/>
          </a:xfrm>
          <a:prstGeom prst="line">
            <a:avLst/>
          </a:prstGeom>
          <a:noFill/>
          <a:ln w="25400">
            <a:solidFill>
              <a:srgbClr val="AEB8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9672" y="2249424"/>
            <a:ext cx="731520" cy="768096"/>
          </a:xfrm>
          <a:prstGeom prst="line">
            <a:avLst/>
          </a:prstGeom>
          <a:noFill/>
          <a:ln w="25400">
            <a:solidFill>
              <a:srgbClr val="AEB8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88152" y="3255264"/>
            <a:ext cx="-274320" cy="768096"/>
          </a:xfrm>
          <a:prstGeom prst="line">
            <a:avLst/>
          </a:prstGeom>
          <a:noFill/>
          <a:ln w="25400">
            <a:solidFill>
              <a:srgbClr val="AEB8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011680"/>
            <a:ext cx="292608" cy="292608"/>
          </a:xfrm>
          <a:prstGeom prst="ellipse">
            <a:avLst/>
          </a:prstGeom>
          <a:solidFill>
            <a:srgbClr val="C99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3017520"/>
            <a:ext cx="274320" cy="274320"/>
          </a:xfrm>
          <a:prstGeom prst="ellipse">
            <a:avLst/>
          </a:prstGeom>
          <a:solidFill>
            <a:srgbClr val="5C68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017520"/>
            <a:ext cx="274320" cy="274320"/>
          </a:xfrm>
          <a:prstGeom prst="ellipse">
            <a:avLst/>
          </a:prstGeom>
          <a:solidFill>
            <a:srgbClr val="5C68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3017520"/>
            <a:ext cx="274320" cy="274320"/>
          </a:xfrm>
          <a:prstGeom prst="ellipse">
            <a:avLst/>
          </a:prstGeom>
          <a:solidFill>
            <a:srgbClr val="5C68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4023360"/>
            <a:ext cx="256032" cy="256032"/>
          </a:xfrm>
          <a:prstGeom prst="ellipse">
            <a:avLst/>
          </a:prstGeom>
          <a:solidFill>
            <a:srgbClr val="5C68B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9496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Tree: connected, no cycles, a root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778240" y="1828800"/>
            <a:ext cx="2834640" cy="3017520"/>
          </a:xfrm>
          <a:prstGeom prst="roundRect">
            <a:avLst>
              <a:gd name="adj" fmla="val 3226"/>
            </a:avLst>
          </a:prstGeom>
          <a:solidFill>
            <a:srgbClr val="F7F8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961120" y="201168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= # incident edges (directed: in/out-degree). Path = nodes joined by edges. Cycle = a path back to its start. Connected = a path between every pair.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diagrams you'll draw for every automaton, and the parse trees for CFGs (Week 4), are exactly this.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MATHEMATICAL TOOLKIT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logic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72030" cy="207203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072030" cy="2072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55110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03550" y="1691640"/>
            <a:ext cx="2072030" cy="207203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03550" y="1691640"/>
            <a:ext cx="2072030" cy="2072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∧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803550" y="3855110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58461" y="1691640"/>
            <a:ext cx="2072030" cy="207203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58461" y="1691640"/>
            <a:ext cx="2072030" cy="2072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∨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058461" y="3855110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3371" y="1691640"/>
            <a:ext cx="2072030" cy="207203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3371" y="1691640"/>
            <a:ext cx="2072030" cy="2072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313371" y="3855110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68282" y="1691640"/>
            <a:ext cx="2072030" cy="207203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68282" y="1691640"/>
            <a:ext cx="2072030" cy="2072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568282" y="3855110"/>
            <a:ext cx="2072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91672" cy="2286000"/>
          </a:xfrm>
          <a:prstGeom prst="roundRect">
            <a:avLst>
              <a:gd name="adj" fmla="val 4000"/>
            </a:avLst>
          </a:prstGeom>
          <a:solidFill>
            <a:srgbClr val="FBF3DF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9319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Morgan's Laws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3891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¬(A ∧ B)  =  ¬A ∨ ¬B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¬(A ∨ B)  =  ¬A ∧ ¬B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4406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4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identities you'll use in Week 3 to prove: if a language is regular, so is its complement.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 · MATHEMATICAL TOOLKIT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regular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75304" cy="1828800"/>
          </a:xfrm>
          <a:prstGeom prst="roundRect">
            <a:avLst>
              <a:gd name="adj" fmla="val 5000"/>
            </a:avLst>
          </a:prstGeom>
          <a:solidFill>
            <a:srgbClr val="232B63"/>
          </a:solidFill>
          <a:ln w="12700">
            <a:solidFill>
              <a:srgbClr val="3A46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575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∪ B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 : w∈A or w∈B 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06824" y="1554480"/>
            <a:ext cx="3575304" cy="1828800"/>
          </a:xfrm>
          <a:prstGeom prst="roundRect">
            <a:avLst>
              <a:gd name="adj" fmla="val 5000"/>
            </a:avLst>
          </a:prstGeom>
          <a:solidFill>
            <a:srgbClr val="232B63"/>
          </a:solidFill>
          <a:ln w="12700">
            <a:solidFill>
              <a:srgbClr val="3A46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6824" y="1737360"/>
            <a:ext cx="3575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∘ B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306824" y="2377440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43984" y="2743200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xy : x∈A, y∈B 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5008" y="1554480"/>
            <a:ext cx="3575304" cy="1828800"/>
          </a:xfrm>
          <a:prstGeom prst="roundRect">
            <a:avLst>
              <a:gd name="adj" fmla="val 5000"/>
            </a:avLst>
          </a:prstGeom>
          <a:solidFill>
            <a:srgbClr val="232B63"/>
          </a:solidFill>
          <a:ln w="12700">
            <a:solidFill>
              <a:srgbClr val="3A46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65008" y="1737360"/>
            <a:ext cx="3575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065008" y="2377440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02168" y="2743200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x₁x₂…xₖ : k≥0, xᵢ∈A 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41B49"/>
          </a:solidFill>
          <a:ln w="12700">
            <a:solidFill>
              <a:srgbClr val="3A469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8404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{good, bad},  B = {boy, girl}  →  A∘B = {goodboy, goodgirl, badboy, badgirl}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377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7C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operations are enough to build every regular expression — which names a language a finite automaton can recognize. Weeks 2–3 make this precise.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Techniques &amp;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as Languages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· Contradiction · Induction · Encoding real problems as languages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PROOF TECHNIQUES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prove something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575304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84248"/>
            <a:ext cx="3575304" cy="3931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object explicitly.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566160"/>
            <a:ext cx="3118104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749040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a language regular (Wks 2–6): construct a DFA / NFA / regex for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6824" y="160020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F7F8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06824" y="1600200"/>
            <a:ext cx="3575304" cy="777240"/>
          </a:xfrm>
          <a:prstGeom prst="roundRect">
            <a:avLst>
              <a:gd name="adj" fmla="val 11765"/>
            </a:avLst>
          </a:prstGeom>
          <a:solidFill>
            <a:srgbClr val="4A2E7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06824" y="1984248"/>
            <a:ext cx="3575304" cy="393192"/>
          </a:xfrm>
          <a:prstGeom prst="rect">
            <a:avLst/>
          </a:prstGeom>
          <a:solidFill>
            <a:srgbClr val="4A2E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89704" y="160020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Contradiction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25603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¬S; derive something false.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35424" y="3566160"/>
            <a:ext cx="3118104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3749040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pumping lemma (Wk 6) and Halting Problem undecidability (Wk 12).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65008" y="160020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F7F8FC"/>
          </a:solidFill>
          <a:ln/>
        </p:spPr>
      </p:sp>
      <p:sp>
        <p:nvSpPr>
          <p:cNvPr id="19" name="Shape 17"/>
          <p:cNvSpPr/>
          <p:nvPr/>
        </p:nvSpPr>
        <p:spPr>
          <a:xfrm>
            <a:off x="8065008" y="1600200"/>
            <a:ext cx="3575304" cy="777240"/>
          </a:xfrm>
          <a:prstGeom prst="roundRect">
            <a:avLst>
              <a:gd name="adj" fmla="val 11765"/>
            </a:avLst>
          </a:prstGeom>
          <a:solidFill>
            <a:srgbClr val="C99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65008" y="1984248"/>
            <a:ext cx="3575304" cy="393192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47888" y="1600200"/>
            <a:ext cx="3209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5603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+ inductive step (P(n) ⇒ P(n+1)).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93608" y="3566160"/>
            <a:ext cx="3118104" cy="0"/>
          </a:xfrm>
          <a:prstGeom prst="line">
            <a:avLst/>
          </a:prstGeom>
          <a:noFill/>
          <a:ln w="12700">
            <a:solidFill>
              <a:srgbClr val="D8DC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3749040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most-used technique all semester: NFA≡DFA, CFG correctness, Cook-Levin.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WORKED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induction proof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Claim:  for |Σ| = k and any n ≥ 0,   |Σⁿ| = kⁿ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7F8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(n=0)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514600"/>
            <a:ext cx="8531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Σ⁰ = {ε}, the only length-0 string.  |Σ⁰| = 1 = k⁰. ✓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7F8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474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hypothesis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474720"/>
            <a:ext cx="8531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Assume |Σⁿ| = kⁿ for some fixed n ≥ 0.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7F8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434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step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434840"/>
            <a:ext cx="8531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length-(n+1) string = a length-n string (kⁿ of them) + one more symbol (k choices).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 |Σⁿ⁺¹| = kⁿ · k = kⁿ⁺¹.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C99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5394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5394960"/>
            <a:ext cx="8531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induction, |Σⁿ| = kⁿ for all n ≥ 0.   ∎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3 · PROBLEMS AS LANGUAGES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decision problem is a language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600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 : w is the binary rep. of a prime 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32688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HAMPATH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560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⟨G,s,t⟩ : G has a Hamiltonian path s→t 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2560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— returns Week 15+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8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VALIDJSON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5204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 ∈ Σ* : w is syntactically valid JSON }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— the Week 7 lab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7F8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480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GRAMMATICAL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480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w ∈ Σ* : w is a well-formed sentence }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4480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— what an LLM approximates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6235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C4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capability or limitation in the news is, underneath, a claim about a specific language somewhere in the hierarchy you started drawing today.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PREVIEW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map for the whole semester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65376"/>
            <a:ext cx="5486400" cy="395020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293315"/>
            <a:ext cx="4297680" cy="3094330"/>
          </a:xfrm>
          <a:prstGeom prst="ellipse">
            <a:avLst/>
          </a:prstGeom>
          <a:solidFill>
            <a:srgbClr val="3A469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2721254"/>
            <a:ext cx="3108960" cy="2238451"/>
          </a:xfrm>
          <a:prstGeom prst="ellipse">
            <a:avLst/>
          </a:prstGeom>
          <a:solidFill>
            <a:srgbClr val="5C68B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3149194"/>
            <a:ext cx="1920240" cy="1382573"/>
          </a:xfrm>
          <a:prstGeom prst="ellipse">
            <a:avLst/>
          </a:prstGeom>
          <a:solidFill>
            <a:srgbClr val="C99A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— Weeks 2–3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474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Context-Free — Weeks 4–6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886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Context-Sensitive &amp; beyond — Weeks 8–13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297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Enumerable — Weeks 11–13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484632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FBF3DF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49377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17 capstone: DeepMind's "Neural Networks and the Chomsky Hierarchy" asks exactly where RNNs and Transformers sit on this diagram.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SMALL-GROUP 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(5 min in groups, 10 min as a class):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725912" cy="3108960"/>
          </a:xfrm>
          <a:prstGeom prst="roundRect">
            <a:avLst>
              <a:gd name="adj" fmla="val 3529"/>
            </a:avLst>
          </a:prstGeom>
          <a:solidFill>
            <a:srgbClr val="232B63"/>
          </a:solidFill>
          <a:ln w="12700">
            <a:solidFill>
              <a:srgbClr val="3A46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28800"/>
            <a:ext cx="9994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“Name a task you believe no AI system could ever perform, even in principle, with unlimited data and compute.”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383280"/>
            <a:ext cx="9994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ask: is the obstacle that it's impossible to compute at all — or that it's possible, but would take too long / too many resources?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292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= a computability question (Wks 11–13)      Impractical = a complexity question (Wks 14–17)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Reading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Sipser, 3rd ed. — Preface / §0 and §1.1 (skim Finite Automata)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BF3DF"/>
          </a:solidFill>
          <a:ln w="12700">
            <a:solidFill>
              <a:srgbClr val="C99A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Next Week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C4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automata &amp; regular expressions — including the actual regex GPT-4's tokenizer uses to pre-split text, line by line.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37160"/>
            <a:ext cx="6583680" cy="6583680"/>
          </a:xfrm>
          <a:prstGeom prst="ellipse">
            <a:avLst/>
          </a:prstGeom>
          <a:ln w="19050">
            <a:solidFill>
              <a:srgbClr val="4A56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685800"/>
            <a:ext cx="5486400" cy="5486400"/>
          </a:xfrm>
          <a:prstGeom prst="ellipse">
            <a:avLst/>
          </a:prstGeom>
          <a:ln w="19050">
            <a:solidFill>
              <a:srgbClr val="5C68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234440"/>
            <a:ext cx="4389120" cy="4389120"/>
          </a:xfrm>
          <a:prstGeom prst="ellipse">
            <a:avLst/>
          </a:prstGeom>
          <a:ln w="19050">
            <a:solidFill>
              <a:srgbClr val="7480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783080"/>
            <a:ext cx="3291840" cy="3291840"/>
          </a:xfrm>
          <a:prstGeom prst="ellipse">
            <a:avLst/>
          </a:prstGeom>
          <a:ln w="19050">
            <a:solidFill>
              <a:srgbClr val="93A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743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 Week 2.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49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questions. Bring skepticism about what your favorite chatbot can and can't actually do.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•  CS-850 Advanced Theory of Computation  •  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2026-09-09T06:23:15Z</dcterms:created>
  <dcterms:modified xsi:type="dcterms:W3CDTF">2026-09-09T06:23:15Z</dcterms:modified>
</cp:coreProperties>
</file>